
<file path=[Content_Types].xml><?xml version="1.0" encoding="utf-8"?>
<Types xmlns="http://schemas.openxmlformats.org/package/2006/content-types">
  <Default Extension="tmp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75213" cy="42803763"/>
  <p:notesSz cx="6735763" cy="98663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109" algn="l" rtl="0" fontAlgn="base">
      <a:spcBef>
        <a:spcPct val="0"/>
      </a:spcBef>
      <a:spcAft>
        <a:spcPct val="0"/>
      </a:spcAft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217" algn="l" rtl="0" fontAlgn="base">
      <a:spcBef>
        <a:spcPct val="0"/>
      </a:spcBef>
      <a:spcAft>
        <a:spcPct val="0"/>
      </a:spcAft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326" algn="l" rtl="0" fontAlgn="base">
      <a:spcBef>
        <a:spcPct val="0"/>
      </a:spcBef>
      <a:spcAft>
        <a:spcPct val="0"/>
      </a:spcAft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434" algn="l" rtl="0" fontAlgn="base">
      <a:spcBef>
        <a:spcPct val="0"/>
      </a:spcBef>
      <a:spcAft>
        <a:spcPct val="0"/>
      </a:spcAft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5543" algn="l" defTabSz="914217" rtl="0" eaLnBrk="1" latinLnBrk="0" hangingPunct="1"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2651" algn="l" defTabSz="914217" rtl="0" eaLnBrk="1" latinLnBrk="0" hangingPunct="1"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199760" algn="l" defTabSz="914217" rtl="0" eaLnBrk="1" latinLnBrk="0" hangingPunct="1"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6868" algn="l" defTabSz="914217" rtl="0" eaLnBrk="1" latinLnBrk="0" hangingPunct="1">
      <a:defRPr kumimoji="1" sz="8198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54" autoAdjust="0"/>
    <p:restoredTop sz="94660"/>
  </p:normalViewPr>
  <p:slideViewPr>
    <p:cSldViewPr>
      <p:cViewPr>
        <p:scale>
          <a:sx n="33" d="100"/>
          <a:sy n="33" d="100"/>
        </p:scale>
        <p:origin x="324" y="-4800"/>
      </p:cViewPr>
      <p:guideLst>
        <p:guide orient="horz" pos="13482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" d="100"/>
          <a:sy n="13" d="100"/>
        </p:scale>
        <p:origin x="1800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723" cy="494499"/>
          </a:xfrm>
          <a:prstGeom prst="rect">
            <a:avLst/>
          </a:prstGeom>
        </p:spPr>
        <p:txBody>
          <a:bodyPr vert="horz" lIns="21031" tIns="10516" rIns="21031" bIns="10516" rtlCol="0"/>
          <a:lstStyle>
            <a:lvl1pPr algn="l">
              <a:defRPr sz="3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247" y="0"/>
            <a:ext cx="2919082" cy="494499"/>
          </a:xfrm>
          <a:prstGeom prst="rect">
            <a:avLst/>
          </a:prstGeom>
        </p:spPr>
        <p:txBody>
          <a:bodyPr vert="horz" lIns="21031" tIns="10516" rIns="21031" bIns="10516" rtlCol="0"/>
          <a:lstStyle>
            <a:lvl1pPr algn="r">
              <a:defRPr sz="300"/>
            </a:lvl1pPr>
          </a:lstStyle>
          <a:p>
            <a:fld id="{52A34D0A-3A2F-479D-8D8F-3972F60FF172}" type="datetimeFigureOut">
              <a:rPr kumimoji="1" lang="ja-JP" altLang="en-US" smtClean="0"/>
              <a:t>2014/10/15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90750" y="1233488"/>
            <a:ext cx="2354263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1031" tIns="10516" rIns="21031" bIns="10516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69" y="4748228"/>
            <a:ext cx="5388826" cy="3884981"/>
          </a:xfrm>
          <a:prstGeom prst="rect">
            <a:avLst/>
          </a:prstGeom>
        </p:spPr>
        <p:txBody>
          <a:bodyPr vert="horz" lIns="21031" tIns="10516" rIns="21031" bIns="10516" rtlCol="0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814"/>
            <a:ext cx="2918723" cy="494499"/>
          </a:xfrm>
          <a:prstGeom prst="rect">
            <a:avLst/>
          </a:prstGeom>
        </p:spPr>
        <p:txBody>
          <a:bodyPr vert="horz" lIns="21031" tIns="10516" rIns="21031" bIns="10516" rtlCol="0" anchor="b"/>
          <a:lstStyle>
            <a:lvl1pPr algn="l">
              <a:defRPr sz="3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247" y="9371814"/>
            <a:ext cx="2919082" cy="494499"/>
          </a:xfrm>
          <a:prstGeom prst="rect">
            <a:avLst/>
          </a:prstGeom>
        </p:spPr>
        <p:txBody>
          <a:bodyPr vert="horz" lIns="21031" tIns="10516" rIns="21031" bIns="10516" rtlCol="0" anchor="b"/>
          <a:lstStyle>
            <a:lvl1pPr algn="r">
              <a:defRPr sz="300"/>
            </a:lvl1pPr>
          </a:lstStyle>
          <a:p>
            <a:fld id="{10C272D9-C5EA-45BF-9999-636E6F4F5A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109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109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217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326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434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5543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651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6868" algn="l" defTabSz="914217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C272D9-C5EA-45BF-9999-636E6F4F5A4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6555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 altLang="ja-JP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7C1F-D55D-41F8-ADBC-99E7C800A437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765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477D9-D3ED-4405-B517-949F4E94A243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63757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D86B-A3E6-4295-AA17-8B91F25EB508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1260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A736-06A5-40A0-9633-19DDA7E798CA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5161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B9D7-883C-4939-A5ED-01E70C404A1A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5976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A4055-76A6-4BB3-9F00-388FDCC064F4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4280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7772-0F60-4A79-8A5D-715D20831DFF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6874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5919B-485C-4494-B9D4-4A6B58604EF8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9544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159E3-2CBC-4315-94EB-746BF5CBB0D6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9458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99766-9B2A-45FE-9D73-2A3DDFAF24A0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7587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88D9D-F413-4CDE-BE92-71BB9B267FD5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6242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ja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3A0DD-7627-43A3-B16F-4D88AB7EBBB1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4237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image" Target="../media/image6.e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.tmp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image" Target="../media/image8.tmp"/><Relationship Id="rId10" Type="http://schemas.openxmlformats.org/officeDocument/2006/relationships/image" Target="../media/image3.wmf"/><Relationship Id="rId4" Type="http://schemas.openxmlformats.org/officeDocument/2006/relationships/image" Target="../media/image5.tmp"/><Relationship Id="rId9" Type="http://schemas.openxmlformats.org/officeDocument/2006/relationships/oleObject" Target="../embeddings/oleObject3.bin"/><Relationship Id="rId14" Type="http://schemas.openxmlformats.org/officeDocument/2006/relationships/image" Target="../media/image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891" y="36641881"/>
            <a:ext cx="5018464" cy="5641599"/>
          </a:xfrm>
          <a:prstGeom prst="rect">
            <a:avLst/>
          </a:prstGeom>
        </p:spPr>
      </p:pic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4774407" y="3266282"/>
            <a:ext cx="200406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6000" dirty="0">
                <a:cs typeface="Arial" panose="020B0604020202020204" pitchFamily="34" charset="0"/>
              </a:rPr>
              <a:t>Yuta Tsuboi &lt;yutat@jp.ibm.com&gt;</a:t>
            </a:r>
          </a:p>
          <a:p>
            <a:pPr algn="ctr"/>
            <a:r>
              <a:rPr lang="en-US" altLang="ja-JP" sz="6000" dirty="0">
                <a:cs typeface="Arial" panose="020B0604020202020204" pitchFamily="34" charset="0"/>
              </a:rPr>
              <a:t>IBM Research – Tokyo</a:t>
            </a: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title"/>
          </p:nvPr>
        </p:nvSpPr>
        <p:spPr>
          <a:xfrm>
            <a:off x="1269208" y="294481"/>
            <a:ext cx="27251025" cy="3124200"/>
          </a:xfrm>
        </p:spPr>
        <p:txBody>
          <a:bodyPr/>
          <a:lstStyle/>
          <a:p>
            <a:pPr algn="ctr"/>
            <a:r>
              <a:rPr lang="en-US" altLang="ja-JP" sz="88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Neural Networks Leverage Corpus-wide Information</a:t>
            </a:r>
            <a:br>
              <a:rPr lang="en-US" altLang="ja-JP" sz="88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</a:br>
            <a:r>
              <a:rPr lang="en-US" altLang="ja-JP" sz="88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for Part-of-speech Tagging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sz="half" idx="1"/>
          </p:nvPr>
        </p:nvSpPr>
        <p:spPr>
          <a:xfrm>
            <a:off x="431007" y="5323682"/>
            <a:ext cx="14325600" cy="6580187"/>
          </a:xfr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17600" tIns="208800" rIns="417600" bIns="208800">
            <a:normAutofit fontScale="92500" lnSpcReduction="10000"/>
          </a:bodyPr>
          <a:lstStyle/>
          <a:p>
            <a:pPr marL="714375" indent="-714375">
              <a:lnSpc>
                <a:spcPct val="90000"/>
              </a:lnSpc>
              <a:buNone/>
            </a:pPr>
            <a:r>
              <a:rPr lang="en-US" altLang="ja-JP" sz="660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  <a:p>
            <a:pPr marL="714375" indent="-714375">
              <a:lnSpc>
                <a:spcPct val="90000"/>
              </a:lnSpc>
            </a:pPr>
            <a:r>
              <a:rPr lang="en-US" altLang="ja-JP" sz="5400" dirty="0">
                <a:latin typeface="Arial" panose="020B0604020202020204" pitchFamily="34" charset="0"/>
                <a:cs typeface="Arial" panose="020B0604020202020204" pitchFamily="34" charset="0"/>
              </a:rPr>
              <a:t>Using a feature combination of</a:t>
            </a:r>
          </a:p>
          <a:p>
            <a:pPr marL="965200" lvl="1" indent="-508000">
              <a:lnSpc>
                <a:spcPct val="90000"/>
              </a:lnSpc>
            </a:pPr>
            <a:r>
              <a:rPr lang="en-US" altLang="ja-JP" sz="5400" dirty="0">
                <a:latin typeface="Arial" panose="020B0604020202020204" pitchFamily="34" charset="0"/>
                <a:cs typeface="Arial" panose="020B0604020202020204" pitchFamily="34" charset="0"/>
              </a:rPr>
              <a:t>local context </a:t>
            </a:r>
            <a:r>
              <a:rPr lang="en-US" altLang="ja-JP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 and </a:t>
            </a:r>
            <a:endParaRPr lang="en-US" altLang="ja-JP" sz="5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65200" lvl="1" indent="-508000">
              <a:lnSpc>
                <a:spcPct val="90000"/>
              </a:lnSpc>
            </a:pPr>
            <a:r>
              <a:rPr lang="en-US" altLang="ja-JP" sz="5400" i="1" dirty="0">
                <a:latin typeface="Arial" panose="020B0604020202020204" pitchFamily="34" charset="0"/>
                <a:cs typeface="Arial" panose="020B0604020202020204" pitchFamily="34" charset="0"/>
              </a:rPr>
              <a:t>corpus-wide</a:t>
            </a:r>
            <a:r>
              <a:rPr lang="en-US" altLang="ja-JP" sz="5400" dirty="0">
                <a:latin typeface="Arial" panose="020B0604020202020204" pitchFamily="34" charset="0"/>
                <a:cs typeface="Arial" panose="020B0604020202020204" pitchFamily="34" charset="0"/>
              </a:rPr>
              <a:t> information</a:t>
            </a:r>
          </a:p>
          <a:p>
            <a:pPr marL="714375" indent="-714375">
              <a:lnSpc>
                <a:spcPct val="90000"/>
              </a:lnSpc>
            </a:pPr>
            <a:r>
              <a:rPr lang="en-US" altLang="ja-JP" sz="5400" dirty="0">
                <a:latin typeface="Arial" panose="020B0604020202020204" pitchFamily="34" charset="0"/>
                <a:cs typeface="Arial" panose="020B0604020202020204" pitchFamily="34" charset="0"/>
              </a:rPr>
              <a:t>State-of-the-art POS tagging accuracies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ja-JP" sz="5400" dirty="0">
                <a:latin typeface="Arial" panose="020B0604020202020204" pitchFamily="34" charset="0"/>
                <a:cs typeface="Arial" panose="020B0604020202020204" pitchFamily="34" charset="0"/>
              </a:rPr>
              <a:t>PTB-WSJ: 97.51</a:t>
            </a:r>
            <a:r>
              <a:rPr lang="en-US" altLang="ja-JP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ja-JP" altLang="en-US" sz="5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(ours) </a:t>
            </a:r>
            <a:r>
              <a:rPr lang="en-US" altLang="ja-JP" sz="5400" dirty="0">
                <a:latin typeface="Arial" panose="020B0604020202020204" pitchFamily="34" charset="0"/>
                <a:cs typeface="Arial" panose="020B0604020202020204" pitchFamily="34" charset="0"/>
              </a:rPr>
              <a:t>vs. 97.50% </a:t>
            </a:r>
            <a:r>
              <a:rPr lang="x-none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(Søggard, 2011)</a:t>
            </a:r>
            <a:endParaRPr lang="en-US" altLang="ja-JP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90000"/>
              </a:lnSpc>
            </a:pPr>
            <a:r>
              <a:rPr lang="en-US" altLang="ja-JP" sz="5400" dirty="0">
                <a:latin typeface="Arial" panose="020B0604020202020204" pitchFamily="34" charset="0"/>
                <a:cs typeface="Arial" panose="020B0604020202020204" pitchFamily="34" charset="0"/>
              </a:rPr>
              <a:t>CoNLL2009: 98.02</a:t>
            </a:r>
            <a:r>
              <a:rPr lang="en-US" altLang="ja-JP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en-US" altLang="ja-JP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(ours) </a:t>
            </a:r>
            <a:r>
              <a:rPr lang="en-US" altLang="ja-JP" sz="5400" dirty="0">
                <a:latin typeface="Arial" panose="020B0604020202020204" pitchFamily="34" charset="0"/>
                <a:cs typeface="Arial" panose="020B0604020202020204" pitchFamily="34" charset="0"/>
              </a:rPr>
              <a:t>vs. 97.84%</a:t>
            </a:r>
            <a:r>
              <a:rPr lang="x-none" altLang="ja-JP" sz="1900" dirty="0">
                <a:latin typeface="Arial" panose="020B0604020202020204" pitchFamily="34" charset="0"/>
                <a:cs typeface="Arial" panose="020B0604020202020204" pitchFamily="34" charset="0"/>
              </a:rPr>
              <a:t>(Bohnet and Nivre, 2012</a:t>
            </a:r>
            <a:r>
              <a:rPr lang="x-none" altLang="ja-JP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990600" lvl="1" indent="0">
              <a:lnSpc>
                <a:spcPct val="90000"/>
              </a:lnSpc>
              <a:buNone/>
            </a:pPr>
            <a:endParaRPr lang="en-US" altLang="ja-JP" sz="5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8750" lvl="1" indent="-438150">
              <a:lnSpc>
                <a:spcPct val="90000"/>
              </a:lnSpc>
            </a:pPr>
            <a:endParaRPr lang="en-US" altLang="ja-JP" sz="4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15121562" y="33823591"/>
            <a:ext cx="14843801" cy="853329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17643" tIns="208822" rIns="417643" bIns="208822"/>
          <a:lstStyle>
            <a:lvl1pPr defTabSz="4176713">
              <a:spcBef>
                <a:spcPct val="20000"/>
              </a:spcBef>
              <a:buChar char="•"/>
              <a:defRPr kumimoji="1" sz="1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3394075" indent="-1306513" defTabSz="4176713">
              <a:spcBef>
                <a:spcPct val="20000"/>
              </a:spcBef>
              <a:buChar char="–"/>
              <a:defRPr kumimoji="1" sz="11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5221288" indent="-1044575" defTabSz="4176713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7308850" indent="-1044575" defTabSz="4176713">
              <a:spcBef>
                <a:spcPct val="20000"/>
              </a:spcBef>
              <a:buChar char="–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9396413" indent="-1042988" defTabSz="4176713">
              <a:spcBef>
                <a:spcPct val="20000"/>
              </a:spcBef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98536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103108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07680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12252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ja-JP" sz="6000" dirty="0">
                <a:cs typeface="Arial" panose="020B0604020202020204" pitchFamily="34" charset="0"/>
              </a:rPr>
              <a:t>Learned representations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1413"/>
              </a:spcAft>
              <a:buNone/>
            </a:pPr>
            <a:r>
              <a:rPr lang="en-US" altLang="ja-JP" sz="4400" dirty="0">
                <a:cs typeface="Arial" panose="020B0604020202020204" pitchFamily="34" charset="0"/>
              </a:rPr>
              <a:t>Scatter plots of </a:t>
            </a:r>
            <a:r>
              <a:rPr lang="en-US" altLang="ja-JP" sz="4400" dirty="0"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verbs</a:t>
            </a:r>
            <a:r>
              <a:rPr lang="en-US" altLang="ja-JP" sz="4400" dirty="0">
                <a:cs typeface="Arial" panose="020B0604020202020204" pitchFamily="34" charset="0"/>
              </a:rPr>
              <a:t> for all combinations between the first 4 principal </a:t>
            </a:r>
            <a:r>
              <a:rPr lang="en-US" altLang="ja-JP" sz="4400" dirty="0" smtClean="0">
                <a:cs typeface="Arial" panose="020B0604020202020204" pitchFamily="34" charset="0"/>
              </a:rPr>
              <a:t>components </a:t>
            </a:r>
            <a:r>
              <a:rPr lang="en-US" altLang="ja-JP" sz="4400" dirty="0">
                <a:cs typeface="Arial" panose="020B0604020202020204" pitchFamily="34" charset="0"/>
              </a:rPr>
              <a:t>of the raw features and the activation </a:t>
            </a:r>
            <a:r>
              <a:rPr lang="en-US" altLang="ja-JP" sz="4400" dirty="0" smtClean="0">
                <a:cs typeface="Arial" panose="020B0604020202020204" pitchFamily="34" charset="0"/>
              </a:rPr>
              <a:t/>
            </a:r>
            <a:br>
              <a:rPr lang="en-US" altLang="ja-JP" sz="4400" dirty="0" smtClean="0">
                <a:cs typeface="Arial" panose="020B0604020202020204" pitchFamily="34" charset="0"/>
              </a:rPr>
            </a:br>
            <a:r>
              <a:rPr lang="en-US" altLang="ja-JP" sz="4400" dirty="0" smtClean="0">
                <a:cs typeface="Arial" panose="020B0604020202020204" pitchFamily="34" charset="0"/>
              </a:rPr>
              <a:t>of </a:t>
            </a:r>
            <a:r>
              <a:rPr lang="en-US" altLang="ja-JP" sz="4400" dirty="0">
                <a:cs typeface="Arial" panose="020B0604020202020204" pitchFamily="34" charset="0"/>
              </a:rPr>
              <a:t>hidden </a:t>
            </a:r>
            <a:r>
              <a:rPr lang="en-US" altLang="ja-JP" sz="4400" dirty="0" smtClean="0">
                <a:cs typeface="Arial" panose="020B0604020202020204" pitchFamily="34" charset="0"/>
              </a:rPr>
              <a:t/>
            </a:r>
            <a:br>
              <a:rPr lang="en-US" altLang="ja-JP" sz="4400" dirty="0" smtClean="0">
                <a:cs typeface="Arial" panose="020B0604020202020204" pitchFamily="34" charset="0"/>
              </a:rPr>
            </a:br>
            <a:r>
              <a:rPr lang="en-US" altLang="ja-JP" sz="4400" dirty="0" smtClean="0">
                <a:cs typeface="Arial" panose="020B0604020202020204" pitchFamily="34" charset="0"/>
              </a:rPr>
              <a:t>variables</a:t>
            </a:r>
            <a:r>
              <a:rPr lang="en-US" altLang="ja-JP" sz="44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5140" name="AutoShape 20"/>
          <p:cNvSpPr>
            <a:spLocks noChangeArrowheads="1"/>
          </p:cNvSpPr>
          <p:nvPr/>
        </p:nvSpPr>
        <p:spPr bwMode="auto">
          <a:xfrm>
            <a:off x="23994450" y="36042534"/>
            <a:ext cx="5495346" cy="71508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anchor="ctr">
            <a:spAutoFit/>
          </a:bodyPr>
          <a:lstStyle>
            <a:lvl1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3600" dirty="0" smtClean="0">
                <a:cs typeface="Arial" panose="020B0604020202020204" pitchFamily="34" charset="0"/>
              </a:rPr>
              <a:t>PCA of hidden activations</a:t>
            </a:r>
            <a:endParaRPr lang="en-US" altLang="ja-JP" sz="3600" dirty="0">
              <a:cs typeface="Arial" panose="020B0604020202020204" pitchFamily="34" charset="0"/>
            </a:endParaRPr>
          </a:p>
        </p:txBody>
      </p:sp>
      <p:sp>
        <p:nvSpPr>
          <p:cNvPr id="5142" name="Rectangle 22"/>
          <p:cNvSpPr>
            <a:spLocks noChangeArrowheads="1"/>
          </p:cNvSpPr>
          <p:nvPr/>
        </p:nvSpPr>
        <p:spPr bwMode="auto">
          <a:xfrm>
            <a:off x="15137607" y="5323681"/>
            <a:ext cx="14706600" cy="1196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17643" tIns="208822" rIns="417643" bIns="208822"/>
          <a:lstStyle>
            <a:lvl1pPr marL="714375" indent="-714375" defTabSz="4176713">
              <a:spcBef>
                <a:spcPct val="20000"/>
              </a:spcBef>
              <a:buChar char="•"/>
              <a:defRPr kumimoji="1" sz="1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1428750" indent="-438150" defTabSz="4176713">
              <a:spcBef>
                <a:spcPct val="20000"/>
              </a:spcBef>
              <a:buChar char="–"/>
              <a:defRPr kumimoji="1" sz="11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5221288" indent="-1044575" defTabSz="4176713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7308850" indent="-1044575" defTabSz="4176713">
              <a:spcBef>
                <a:spcPct val="20000"/>
              </a:spcBef>
              <a:buChar char="–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9396413" indent="-1042988" defTabSz="4176713">
              <a:spcBef>
                <a:spcPct val="20000"/>
              </a:spcBef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98536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103108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07680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12252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ja-JP" sz="6000" dirty="0">
                <a:cs typeface="Arial" panose="020B0604020202020204" pitchFamily="34" charset="0"/>
              </a:rPr>
              <a:t>A hybrid architecture</a:t>
            </a: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Linear model for </a:t>
            </a:r>
            <a:r>
              <a:rPr lang="en-US" altLang="ja-JP" sz="4800" b="1" dirty="0">
                <a:cs typeface="Arial" panose="020B0604020202020204" pitchFamily="34" charset="0"/>
              </a:rPr>
              <a:t>local context features</a:t>
            </a:r>
            <a:r>
              <a:rPr lang="en-US" altLang="ja-JP" sz="4800" dirty="0">
                <a:cs typeface="Arial" panose="020B0604020202020204" pitchFamily="34" charset="0"/>
              </a:rPr>
              <a:t>, e.g. the neighborhood of the target word</a:t>
            </a:r>
          </a:p>
          <a:p>
            <a:pPr lvl="1">
              <a:lnSpc>
                <a:spcPct val="90000"/>
              </a:lnSpc>
            </a:pPr>
            <a:r>
              <a:rPr lang="en-US" altLang="ja-JP" sz="4100" dirty="0">
                <a:cs typeface="Arial" panose="020B0604020202020204" pitchFamily="34" charset="0"/>
              </a:rPr>
              <a:t>Sparse discrete vectors </a:t>
            </a: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Neural nets for </a:t>
            </a:r>
            <a:r>
              <a:rPr lang="en-US" altLang="ja-JP" sz="4800" b="1" dirty="0">
                <a:cs typeface="Arial" panose="020B0604020202020204" pitchFamily="34" charset="0"/>
              </a:rPr>
              <a:t>corpus-wide features</a:t>
            </a:r>
            <a:r>
              <a:rPr lang="en-US" altLang="ja-JP" sz="4800" dirty="0">
                <a:cs typeface="Arial" panose="020B0604020202020204" pitchFamily="34" charset="0"/>
              </a:rPr>
              <a:t>, e.g. the distribution of neighbor words </a:t>
            </a:r>
          </a:p>
          <a:p>
            <a:pPr lvl="1">
              <a:lnSpc>
                <a:spcPct val="90000"/>
              </a:lnSpc>
            </a:pPr>
            <a:r>
              <a:rPr lang="en-US" altLang="ja-JP" sz="4100" dirty="0">
                <a:cs typeface="Arial" panose="020B0604020202020204" pitchFamily="34" charset="0"/>
              </a:rPr>
              <a:t>Dense continuous vectors</a:t>
            </a:r>
          </a:p>
        </p:txBody>
      </p:sp>
      <p:sp>
        <p:nvSpPr>
          <p:cNvPr id="5148" name="Rectangle 28"/>
          <p:cNvSpPr>
            <a:spLocks noChangeArrowheads="1"/>
          </p:cNvSpPr>
          <p:nvPr/>
        </p:nvSpPr>
        <p:spPr bwMode="auto">
          <a:xfrm>
            <a:off x="384575" y="12062282"/>
            <a:ext cx="14372031" cy="769619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17643" tIns="208822" rIns="417643" bIns="208822"/>
          <a:lstStyle>
            <a:lvl1pPr marL="714375" indent="-714375" defTabSz="4176713">
              <a:spcBef>
                <a:spcPct val="20000"/>
              </a:spcBef>
              <a:buChar char="•"/>
              <a:defRPr kumimoji="1" sz="1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1428750" indent="-438150" defTabSz="4176713">
              <a:spcBef>
                <a:spcPct val="20000"/>
              </a:spcBef>
              <a:buChar char="–"/>
              <a:defRPr kumimoji="1" sz="11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5221288" indent="-1044575" defTabSz="4176713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7308850" indent="-1044575" defTabSz="4176713">
              <a:spcBef>
                <a:spcPct val="20000"/>
              </a:spcBef>
              <a:buChar char="–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9396413" indent="-1042988" defTabSz="4176713">
              <a:spcBef>
                <a:spcPct val="20000"/>
              </a:spcBef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98536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103108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07680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12252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ja-JP" sz="6000" dirty="0">
                <a:cs typeface="Arial" panose="020B0604020202020204" pitchFamily="34" charset="0"/>
              </a:rPr>
              <a:t>Four types of corpus-wide features</a:t>
            </a: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Word embeddings (w2v and glv)</a:t>
            </a:r>
          </a:p>
          <a:p>
            <a:pPr lvl="1">
              <a:lnSpc>
                <a:spcPct val="90000"/>
              </a:lnSpc>
            </a:pPr>
            <a:r>
              <a:rPr lang="en-US" altLang="ja-JP" sz="4100" dirty="0">
                <a:cs typeface="Arial" panose="020B0604020202020204" pitchFamily="34" charset="0"/>
              </a:rPr>
              <a:t>word2vec </a:t>
            </a:r>
            <a:r>
              <a:rPr lang="en-US" altLang="ja-JP" sz="2400" dirty="0">
                <a:cs typeface="Arial" panose="020B0604020202020204" pitchFamily="34" charset="0"/>
              </a:rPr>
              <a:t>(Mikolov et al., 2013)</a:t>
            </a:r>
            <a:r>
              <a:rPr lang="en-US" altLang="ja-JP" sz="4100" dirty="0">
                <a:cs typeface="Arial" panose="020B0604020202020204" pitchFamily="34" charset="0"/>
              </a:rPr>
              <a:t>  and GloVe </a:t>
            </a:r>
            <a:r>
              <a:rPr lang="en-US" altLang="ja-JP" sz="2400" dirty="0">
                <a:cs typeface="Arial" panose="020B0604020202020204" pitchFamily="34" charset="0"/>
              </a:rPr>
              <a:t>(Pennington et al., 2014)</a:t>
            </a: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POS tag distribution (pos)</a:t>
            </a:r>
          </a:p>
          <a:p>
            <a:pPr lvl="1">
              <a:lnSpc>
                <a:spcPct val="90000"/>
              </a:lnSpc>
            </a:pPr>
            <a:r>
              <a:rPr lang="en-US" altLang="ja-JP" sz="4100" dirty="0">
                <a:cs typeface="Arial" panose="020B0604020202020204" pitchFamily="34" charset="0"/>
              </a:rPr>
              <a:t>Pr(pos | w</a:t>
            </a:r>
            <a:r>
              <a:rPr lang="en-US" altLang="ja-JP" sz="4100" baseline="-25000" dirty="0">
                <a:cs typeface="Arial" panose="020B0604020202020204" pitchFamily="34" charset="0"/>
              </a:rPr>
              <a:t>t</a:t>
            </a:r>
            <a:r>
              <a:rPr lang="en-US" altLang="ja-JP" sz="4100" dirty="0">
                <a:cs typeface="Arial" panose="020B0604020202020204" pitchFamily="34" charset="0"/>
              </a:rPr>
              <a:t>); Pr(pos | affix</a:t>
            </a:r>
            <a:r>
              <a:rPr lang="en-US" altLang="ja-JP" sz="4100" baseline="-25000" dirty="0">
                <a:cs typeface="Arial" panose="020B0604020202020204" pitchFamily="34" charset="0"/>
              </a:rPr>
              <a:t>t</a:t>
            </a:r>
            <a:r>
              <a:rPr lang="en-US" altLang="ja-JP" sz="4100" dirty="0">
                <a:cs typeface="Arial" panose="020B0604020202020204" pitchFamily="34" charset="0"/>
              </a:rPr>
              <a:t>); Pr(pos | spelling</a:t>
            </a:r>
            <a:r>
              <a:rPr lang="en-US" altLang="ja-JP" sz="4100" baseline="-25000" dirty="0">
                <a:cs typeface="Arial" panose="020B0604020202020204" pitchFamily="34" charset="0"/>
              </a:rPr>
              <a:t>t</a:t>
            </a:r>
            <a:r>
              <a:rPr lang="en-US" altLang="ja-JP" sz="4100" dirty="0"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ja-JP" sz="4800" dirty="0" err="1" smtClean="0">
                <a:cs typeface="Arial" panose="020B0604020202020204" pitchFamily="34" charset="0"/>
              </a:rPr>
              <a:t>Supertag</a:t>
            </a:r>
            <a:r>
              <a:rPr lang="en-US" altLang="ja-JP" sz="4800" dirty="0" smtClean="0">
                <a:cs typeface="Arial" panose="020B0604020202020204" pitchFamily="34" charset="0"/>
              </a:rPr>
              <a:t> distribution (stag) </a:t>
            </a:r>
          </a:p>
          <a:p>
            <a:pPr lvl="1">
              <a:lnSpc>
                <a:spcPct val="90000"/>
              </a:lnSpc>
            </a:pPr>
            <a:r>
              <a:rPr lang="en-US" altLang="ja-JP" sz="4100" dirty="0" err="1">
                <a:cs typeface="Arial" panose="020B0604020202020204" pitchFamily="34" charset="0"/>
              </a:rPr>
              <a:t>Pr</a:t>
            </a:r>
            <a:r>
              <a:rPr lang="en-US" altLang="ja-JP" sz="4100" dirty="0">
                <a:cs typeface="Arial" panose="020B0604020202020204" pitchFamily="34" charset="0"/>
              </a:rPr>
              <a:t>(stag | </a:t>
            </a:r>
            <a:r>
              <a:rPr lang="en-US" altLang="ja-JP" sz="4100" dirty="0" err="1">
                <a:cs typeface="Arial" panose="020B0604020202020204" pitchFamily="34" charset="0"/>
              </a:rPr>
              <a:t>w</a:t>
            </a:r>
            <a:r>
              <a:rPr lang="en-US" altLang="ja-JP" sz="4100" baseline="-25000" dirty="0" err="1">
                <a:cs typeface="Arial" panose="020B0604020202020204" pitchFamily="34" charset="0"/>
              </a:rPr>
              <a:t>t</a:t>
            </a:r>
            <a:r>
              <a:rPr lang="en-US" altLang="ja-JP" sz="4100" dirty="0">
                <a:cs typeface="Arial" panose="020B0604020202020204" pitchFamily="34" charset="0"/>
              </a:rPr>
              <a:t>); </a:t>
            </a:r>
            <a:r>
              <a:rPr lang="en-US" altLang="ja-JP" sz="4100" dirty="0" err="1">
                <a:cs typeface="Arial" panose="020B0604020202020204" pitchFamily="34" charset="0"/>
              </a:rPr>
              <a:t>Supertags</a:t>
            </a:r>
            <a:r>
              <a:rPr lang="en-US" altLang="ja-JP" sz="4100" dirty="0">
                <a:cs typeface="Arial" panose="020B0604020202020204" pitchFamily="34" charset="0"/>
              </a:rPr>
              <a:t> are dependency labels and </a:t>
            </a:r>
            <a:r>
              <a:rPr lang="en-US" altLang="ja-JP" sz="4100" dirty="0" smtClean="0">
                <a:cs typeface="Arial" panose="020B0604020202020204" pitchFamily="34" charset="0"/>
              </a:rPr>
              <a:t>directions </a:t>
            </a:r>
            <a:r>
              <a:rPr lang="en-US" altLang="ja-JP" sz="4100" dirty="0">
                <a:cs typeface="Arial" panose="020B0604020202020204" pitchFamily="34" charset="0"/>
              </a:rPr>
              <a:t>of </a:t>
            </a:r>
            <a:r>
              <a:rPr lang="en-US" altLang="ja-JP" sz="4100" dirty="0" smtClean="0">
                <a:cs typeface="Arial" panose="020B0604020202020204" pitchFamily="34" charset="0"/>
              </a:rPr>
              <a:t>parent/children</a:t>
            </a:r>
            <a:r>
              <a:rPr lang="en-US" altLang="ja-JP" sz="4100" dirty="0">
                <a:cs typeface="Arial" panose="020B0604020202020204" pitchFamily="34" charset="0"/>
              </a:rPr>
              <a:t>, e.g. “nn/L” </a:t>
            </a:r>
            <a:r>
              <a:rPr lang="en-US" altLang="ja-JP" sz="2400" dirty="0">
                <a:cs typeface="Arial" panose="020B0604020202020204" pitchFamily="34" charset="0"/>
              </a:rPr>
              <a:t>(Ouchi et al., 2014)</a:t>
            </a: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Context word </a:t>
            </a:r>
            <a:r>
              <a:rPr lang="en-US" altLang="ja-JP" sz="4800" dirty="0" smtClean="0">
                <a:cs typeface="Arial" panose="020B0604020202020204" pitchFamily="34" charset="0"/>
              </a:rPr>
              <a:t>distribution(</a:t>
            </a:r>
            <a:r>
              <a:rPr lang="en-US" altLang="ja-JP" sz="4800" dirty="0" err="1" smtClean="0">
                <a:cs typeface="Arial" panose="020B0604020202020204" pitchFamily="34" charset="0"/>
              </a:rPr>
              <a:t>cw</a:t>
            </a:r>
            <a:r>
              <a:rPr lang="en-US" altLang="ja-JP" sz="4800" dirty="0" smtClean="0">
                <a:cs typeface="Arial" panose="020B0604020202020204" pitchFamily="34" charset="0"/>
              </a:rPr>
              <a:t>)</a:t>
            </a:r>
            <a:endParaRPr lang="en-US" altLang="ja-JP" sz="4800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ja-JP" sz="4100" dirty="0" err="1" smtClean="0">
                <a:cs typeface="Arial" panose="020B0604020202020204" pitchFamily="34" charset="0"/>
              </a:rPr>
              <a:t>Pr</a:t>
            </a:r>
            <a:r>
              <a:rPr lang="en-US" altLang="ja-JP" sz="4100" dirty="0" smtClean="0">
                <a:cs typeface="Arial" panose="020B0604020202020204" pitchFamily="34" charset="0"/>
              </a:rPr>
              <a:t>(w</a:t>
            </a:r>
            <a:r>
              <a:rPr lang="en-US" altLang="ja-JP" sz="4100" baseline="-25000" dirty="0" smtClean="0">
                <a:cs typeface="Arial" panose="020B0604020202020204" pitchFamily="34" charset="0"/>
              </a:rPr>
              <a:t>t-1</a:t>
            </a:r>
            <a:r>
              <a:rPr lang="en-US" altLang="ja-JP" sz="4100" dirty="0" smtClean="0">
                <a:cs typeface="Arial" panose="020B0604020202020204" pitchFamily="34" charset="0"/>
              </a:rPr>
              <a:t> </a:t>
            </a:r>
            <a:r>
              <a:rPr lang="en-US" altLang="ja-JP" sz="4100" dirty="0">
                <a:cs typeface="Arial" panose="020B0604020202020204" pitchFamily="34" charset="0"/>
              </a:rPr>
              <a:t>| w</a:t>
            </a:r>
            <a:r>
              <a:rPr lang="en-US" altLang="ja-JP" sz="4100" baseline="-25000" dirty="0">
                <a:cs typeface="Arial" panose="020B0604020202020204" pitchFamily="34" charset="0"/>
              </a:rPr>
              <a:t>t</a:t>
            </a:r>
            <a:r>
              <a:rPr lang="en-US" altLang="ja-JP" sz="4100" dirty="0">
                <a:cs typeface="Arial" panose="020B0604020202020204" pitchFamily="34" charset="0"/>
              </a:rPr>
              <a:t>); Pr(w</a:t>
            </a:r>
            <a:r>
              <a:rPr lang="en-US" altLang="ja-JP" sz="4100" baseline="-25000" dirty="0">
                <a:cs typeface="Arial" panose="020B0604020202020204" pitchFamily="34" charset="0"/>
              </a:rPr>
              <a:t>t+1</a:t>
            </a:r>
            <a:r>
              <a:rPr lang="en-US" altLang="ja-JP" sz="4100" dirty="0">
                <a:cs typeface="Arial" panose="020B0604020202020204" pitchFamily="34" charset="0"/>
              </a:rPr>
              <a:t> | w</a:t>
            </a:r>
            <a:r>
              <a:rPr lang="en-US" altLang="ja-JP" sz="4100" baseline="-25000" dirty="0">
                <a:cs typeface="Arial" panose="020B0604020202020204" pitchFamily="34" charset="0"/>
              </a:rPr>
              <a:t>t</a:t>
            </a:r>
            <a:r>
              <a:rPr lang="en-US" altLang="ja-JP" sz="4100" dirty="0">
                <a:cs typeface="Arial" panose="020B0604020202020204" pitchFamily="34" charset="0"/>
              </a:rPr>
              <a:t>); </a:t>
            </a:r>
            <a:r>
              <a:rPr lang="en-US" altLang="ja-JP" sz="2400" dirty="0">
                <a:cs typeface="Arial" panose="020B0604020202020204" pitchFamily="34" charset="0"/>
              </a:rPr>
              <a:t>(Schnabel and Sch¨utze, 2014)</a:t>
            </a:r>
          </a:p>
        </p:txBody>
      </p:sp>
      <p:sp>
        <p:nvSpPr>
          <p:cNvPr id="5149" name="Rectangle 29"/>
          <p:cNvSpPr>
            <a:spLocks noChangeArrowheads="1"/>
          </p:cNvSpPr>
          <p:nvPr/>
        </p:nvSpPr>
        <p:spPr bwMode="auto">
          <a:xfrm>
            <a:off x="15137607" y="17513640"/>
            <a:ext cx="14752224" cy="463117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17643" tIns="208822" rIns="417643" bIns="208822"/>
          <a:lstStyle>
            <a:lvl1pPr marL="714375" indent="-714375" defTabSz="4176713">
              <a:spcBef>
                <a:spcPct val="20000"/>
              </a:spcBef>
              <a:buChar char="•"/>
              <a:defRPr kumimoji="1" sz="1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1428750" indent="-438150" defTabSz="4176713">
              <a:spcBef>
                <a:spcPct val="20000"/>
              </a:spcBef>
              <a:buChar char="–"/>
              <a:defRPr kumimoji="1" sz="11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5221288" indent="-1044575" defTabSz="4176713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7308850" indent="-1044575" defTabSz="4176713">
              <a:spcBef>
                <a:spcPct val="20000"/>
              </a:spcBef>
              <a:buChar char="–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9396413" indent="-1042988" defTabSz="4176713">
              <a:spcBef>
                <a:spcPct val="20000"/>
              </a:spcBef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98536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103108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07680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12252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ja-JP" sz="6000" dirty="0">
                <a:cs typeface="Arial" panose="020B0604020202020204" pitchFamily="34" charset="0"/>
              </a:rPr>
              <a:t>Why neural net. for continuous features?</a:t>
            </a:r>
          </a:p>
          <a:p>
            <a:pPr>
              <a:lnSpc>
                <a:spcPct val="90000"/>
              </a:lnSpc>
            </a:pPr>
            <a:r>
              <a:rPr lang="en-US" altLang="ja-JP" sz="4800" dirty="0" smtClean="0">
                <a:cs typeface="Arial" panose="020B0604020202020204" pitchFamily="34" charset="0"/>
              </a:rPr>
              <a:t>The non-linearity of discrete features has been exploited by the simple conjunction of the discrete features. </a:t>
            </a:r>
          </a:p>
          <a:p>
            <a:pPr>
              <a:lnSpc>
                <a:spcPct val="90000"/>
              </a:lnSpc>
            </a:pPr>
            <a:r>
              <a:rPr lang="en-US" altLang="ja-JP" sz="4800" dirty="0" smtClean="0">
                <a:cs typeface="Arial" panose="020B0604020202020204" pitchFamily="34" charset="0"/>
              </a:rPr>
              <a:t>In contrast, the non-linear feature design of continuous features</a:t>
            </a:r>
            <a:r>
              <a:rPr lang="en-US" altLang="ja-JP" sz="4800" b="1" dirty="0" smtClean="0">
                <a:cs typeface="Arial" panose="020B0604020202020204" pitchFamily="34" charset="0"/>
              </a:rPr>
              <a:t> </a:t>
            </a:r>
            <a:r>
              <a:rPr lang="en-US" altLang="ja-JP" sz="4800" dirty="0" smtClean="0">
                <a:cs typeface="Arial" panose="020B0604020202020204" pitchFamily="34" charset="0"/>
              </a:rPr>
              <a:t>is</a:t>
            </a:r>
            <a:r>
              <a:rPr lang="en-US" altLang="ja-JP" sz="4800" b="1" dirty="0" smtClean="0">
                <a:cs typeface="Arial" panose="020B0604020202020204" pitchFamily="34" charset="0"/>
              </a:rPr>
              <a:t> not intuitive.</a:t>
            </a:r>
            <a:endParaRPr lang="en-US" altLang="ja-JP" sz="4800" b="1" dirty="0"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55726" y="20146673"/>
            <a:ext cx="14325600" cy="8339139"/>
            <a:chOff x="507207" y="18168143"/>
            <a:chExt cx="14325600" cy="8339139"/>
          </a:xfrm>
        </p:grpSpPr>
        <p:sp>
          <p:nvSpPr>
            <p:cNvPr id="5151" name="Rectangle 31"/>
            <p:cNvSpPr>
              <a:spLocks noChangeArrowheads="1"/>
            </p:cNvSpPr>
            <p:nvPr/>
          </p:nvSpPr>
          <p:spPr bwMode="auto">
            <a:xfrm>
              <a:off x="507207" y="18168143"/>
              <a:ext cx="14325600" cy="833913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17643" tIns="208822" rIns="417643" bIns="208822"/>
            <a:lstStyle>
              <a:lvl1pPr marL="714375" indent="-714375" defTabSz="4176713">
                <a:spcBef>
                  <a:spcPct val="20000"/>
                </a:spcBef>
                <a:buChar char="•"/>
                <a:defRPr kumimoji="1" sz="1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1428750" indent="-438150" defTabSz="4176713">
                <a:spcBef>
                  <a:spcPct val="20000"/>
                </a:spcBef>
                <a:buChar char="–"/>
                <a:defRPr kumimoji="1" sz="11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5221288" indent="-1044575" defTabSz="4176713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7308850" indent="-1044575" defTabSz="4176713">
                <a:spcBef>
                  <a:spcPct val="20000"/>
                </a:spcBef>
                <a:buChar char="–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9396413" indent="-1042988" defTabSz="4176713">
                <a:spcBef>
                  <a:spcPct val="20000"/>
                </a:spcBef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9853613" indent="-1042988" defTabSz="4176713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10310813" indent="-1042988" defTabSz="4176713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10768013" indent="-1042988" defTabSz="4176713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11225213" indent="-1042988" defTabSz="4176713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ja-JP" sz="6000" dirty="0">
                  <a:cs typeface="Arial" panose="020B0604020202020204" pitchFamily="34" charset="0"/>
                </a:rPr>
                <a:t>Activation Functions</a:t>
              </a:r>
            </a:p>
            <a:p>
              <a:pPr>
                <a:lnSpc>
                  <a:spcPct val="90000"/>
                </a:lnSpc>
              </a:pPr>
              <a:r>
                <a:rPr lang="en-US" altLang="ja-JP" sz="4800" dirty="0">
                  <a:cs typeface="Arial" panose="020B0604020202020204" pitchFamily="34" charset="0"/>
                </a:rPr>
                <a:t>Let </a:t>
              </a:r>
              <a:r>
                <a:rPr lang="en-US" altLang="ja-JP" sz="4800" b="1" dirty="0">
                  <a:cs typeface="Arial" panose="020B0604020202020204" pitchFamily="34" charset="0"/>
                </a:rPr>
                <a:t>v</a:t>
              </a:r>
              <a:r>
                <a:rPr lang="en-US" altLang="ja-JP" sz="4800" dirty="0">
                  <a:cs typeface="Arial" panose="020B0604020202020204" pitchFamily="34" charset="0"/>
                </a:rPr>
                <a:t> be a linear filter:  </a:t>
              </a:r>
            </a:p>
            <a:p>
              <a:pPr>
                <a:lnSpc>
                  <a:spcPct val="90000"/>
                </a:lnSpc>
              </a:pPr>
              <a:r>
                <a:rPr lang="en-US" altLang="ja-JP" sz="4800" b="1" dirty="0">
                  <a:cs typeface="Arial" panose="020B0604020202020204" pitchFamily="34" charset="0"/>
                </a:rPr>
                <a:t>Rectified Linear Units (ReLUs)</a:t>
              </a:r>
            </a:p>
            <a:p>
              <a:pPr>
                <a:lnSpc>
                  <a:spcPct val="90000"/>
                </a:lnSpc>
              </a:pPr>
              <a:endParaRPr lang="en-US" altLang="ja-JP" sz="4800" b="1" dirty="0"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ja-JP" sz="4800" b="1" dirty="0">
                  <a:cs typeface="Arial" panose="020B0604020202020204" pitchFamily="34" charset="0"/>
                </a:rPr>
                <a:t>Maxout networks (MAXOUT) </a:t>
              </a:r>
            </a:p>
            <a:p>
              <a:pPr>
                <a:lnSpc>
                  <a:spcPct val="90000"/>
                </a:lnSpc>
              </a:pPr>
              <a:endParaRPr lang="en-US" altLang="ja-JP" sz="4800" b="1" dirty="0">
                <a:cs typeface="Arial" panose="020B060402020202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ja-JP" sz="4800" b="1" dirty="0">
                  <a:cs typeface="Arial" panose="020B0604020202020204" pitchFamily="34" charset="0"/>
                </a:rPr>
                <a:t>Normalized L</a:t>
              </a:r>
              <a:r>
                <a:rPr lang="en-US" altLang="ja-JP" sz="4800" b="1" baseline="-25000" dirty="0">
                  <a:cs typeface="Arial" panose="020B0604020202020204" pitchFamily="34" charset="0"/>
                </a:rPr>
                <a:t>p</a:t>
              </a:r>
              <a:r>
                <a:rPr lang="en-US" altLang="ja-JP" sz="4800" b="1" dirty="0">
                  <a:cs typeface="Arial" panose="020B0604020202020204" pitchFamily="34" charset="0"/>
                </a:rPr>
                <a:t> pooling (L</a:t>
              </a:r>
              <a:r>
                <a:rPr lang="en-US" altLang="ja-JP" sz="4800" b="1" baseline="-25000" dirty="0">
                  <a:cs typeface="Arial" panose="020B0604020202020204" pitchFamily="34" charset="0"/>
                </a:rPr>
                <a:t>p</a:t>
              </a:r>
              <a:r>
                <a:rPr lang="en-US" altLang="ja-JP" sz="4800" b="1" dirty="0">
                  <a:cs typeface="Arial" panose="020B0604020202020204" pitchFamily="34" charset="0"/>
                </a:rPr>
                <a:t>)</a:t>
              </a:r>
            </a:p>
          </p:txBody>
        </p:sp>
        <p:graphicFrame>
          <p:nvGraphicFramePr>
            <p:cNvPr id="515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4423410"/>
                </p:ext>
              </p:extLst>
            </p:nvPr>
          </p:nvGraphicFramePr>
          <p:xfrm>
            <a:off x="7441407" y="19068606"/>
            <a:ext cx="2667000" cy="106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3" name="Equation" r:id="rId5" imgW="507960" imgH="203040" progId="Equation.3">
                    <p:embed/>
                  </p:oleObj>
                </mc:Choice>
                <mc:Fallback>
                  <p:oleObj name="Equation" r:id="rId5" imgW="507960" imgH="20304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1407" y="19068606"/>
                          <a:ext cx="2667000" cy="10680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5" name="Oval 35"/>
            <p:cNvSpPr>
              <a:spLocks noChangeArrowheads="1"/>
            </p:cNvSpPr>
            <p:nvPr/>
          </p:nvSpPr>
          <p:spPr bwMode="auto">
            <a:xfrm>
              <a:off x="11327607" y="1949688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r>
                <a:rPr lang="en-US" altLang="ja-JP" sz="4600" dirty="0"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5156" name="Oval 36"/>
            <p:cNvSpPr>
              <a:spLocks noChangeArrowheads="1"/>
            </p:cNvSpPr>
            <p:nvPr/>
          </p:nvSpPr>
          <p:spPr bwMode="auto">
            <a:xfrm>
              <a:off x="11327607" y="2102088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r>
                <a:rPr lang="en-US" altLang="ja-JP" sz="4600" dirty="0">
                  <a:cs typeface="Arial" panose="020B0604020202020204" pitchFamily="34" charset="0"/>
                </a:rPr>
                <a:t>v</a:t>
              </a:r>
            </a:p>
          </p:txBody>
        </p:sp>
        <p:cxnSp>
          <p:nvCxnSpPr>
            <p:cNvPr id="5157" name="AutoShape 37"/>
            <p:cNvCxnSpPr>
              <a:cxnSpLocks noChangeShapeType="1"/>
              <a:stCxn id="5156" idx="0"/>
              <a:endCxn id="5155" idx="4"/>
            </p:cNvCxnSpPr>
            <p:nvPr/>
          </p:nvCxnSpPr>
          <p:spPr bwMode="auto">
            <a:xfrm flipV="1">
              <a:off x="11822907" y="20411280"/>
              <a:ext cx="0" cy="609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5158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4857471"/>
                </p:ext>
              </p:extLst>
            </p:nvPr>
          </p:nvGraphicFramePr>
          <p:xfrm>
            <a:off x="1726407" y="20792280"/>
            <a:ext cx="3886200" cy="1033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4" name="Equation" r:id="rId7" imgW="812520" imgH="215640" progId="Equation.3">
                    <p:embed/>
                  </p:oleObj>
                </mc:Choice>
                <mc:Fallback>
                  <p:oleObj name="Equation" r:id="rId7" imgW="812520" imgH="21564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6407" y="20792280"/>
                          <a:ext cx="3886200" cy="1033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9" name="AutoShape 39"/>
            <p:cNvSpPr>
              <a:spLocks noChangeArrowheads="1"/>
            </p:cNvSpPr>
            <p:nvPr/>
          </p:nvSpPr>
          <p:spPr bwMode="auto">
            <a:xfrm>
              <a:off x="12775407" y="19725480"/>
              <a:ext cx="1752600" cy="1219200"/>
            </a:xfrm>
            <a:prstGeom prst="wedgeRectCallout">
              <a:avLst>
                <a:gd name="adj1" fmla="val -95653"/>
                <a:gd name="adj2" fmla="val 2942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endParaRPr lang="ja-JP" altLang="ja-JP">
                <a:cs typeface="Arial" panose="020B0604020202020204" pitchFamily="34" charset="0"/>
              </a:endParaRPr>
            </a:p>
          </p:txBody>
        </p:sp>
        <p:sp>
          <p:nvSpPr>
            <p:cNvPr id="5160" name="Line 40"/>
            <p:cNvSpPr>
              <a:spLocks noChangeShapeType="1"/>
            </p:cNvSpPr>
            <p:nvPr/>
          </p:nvSpPr>
          <p:spPr bwMode="auto">
            <a:xfrm>
              <a:off x="13004007" y="2056368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>
                <a:cs typeface="Arial" panose="020B0604020202020204" pitchFamily="34" charset="0"/>
              </a:endParaRPr>
            </a:p>
          </p:txBody>
        </p:sp>
        <p:sp>
          <p:nvSpPr>
            <p:cNvPr id="5161" name="Line 41"/>
            <p:cNvSpPr>
              <a:spLocks noChangeShapeType="1"/>
            </p:cNvSpPr>
            <p:nvPr/>
          </p:nvSpPr>
          <p:spPr bwMode="auto">
            <a:xfrm flipV="1">
              <a:off x="13766007" y="19954080"/>
              <a:ext cx="5334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>
                <a:cs typeface="Arial" panose="020B0604020202020204" pitchFamily="34" charset="0"/>
              </a:endParaRPr>
            </a:p>
          </p:txBody>
        </p:sp>
        <p:sp>
          <p:nvSpPr>
            <p:cNvPr id="5162" name="Oval 42"/>
            <p:cNvSpPr>
              <a:spLocks noChangeArrowheads="1"/>
            </p:cNvSpPr>
            <p:nvPr/>
          </p:nvSpPr>
          <p:spPr bwMode="auto">
            <a:xfrm>
              <a:off x="11327607" y="2262108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r>
                <a:rPr lang="en-US" altLang="ja-JP" sz="4600" dirty="0"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5164" name="AutoShape 44"/>
            <p:cNvCxnSpPr>
              <a:cxnSpLocks noChangeShapeType="1"/>
              <a:stCxn id="5165" idx="0"/>
              <a:endCxn id="5167" idx="2"/>
            </p:cNvCxnSpPr>
            <p:nvPr/>
          </p:nvCxnSpPr>
          <p:spPr bwMode="auto">
            <a:xfrm flipV="1">
              <a:off x="9613107" y="24678480"/>
              <a:ext cx="2171700" cy="762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65" name="Oval 45"/>
            <p:cNvSpPr>
              <a:spLocks noChangeArrowheads="1"/>
            </p:cNvSpPr>
            <p:nvPr/>
          </p:nvSpPr>
          <p:spPr bwMode="auto">
            <a:xfrm>
              <a:off x="9117807" y="2544048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r>
                <a:rPr lang="en-US" altLang="ja-JP" sz="4600" dirty="0">
                  <a:cs typeface="Arial" panose="020B0604020202020204" pitchFamily="34" charset="0"/>
                </a:rPr>
                <a:t>v</a:t>
              </a:r>
              <a:r>
                <a:rPr lang="en-US" altLang="ja-JP" sz="4600" baseline="-25000" dirty="0">
                  <a:cs typeface="Arial" panose="020B0604020202020204" pitchFamily="34" charset="0"/>
                </a:rPr>
                <a:t>1</a:t>
              </a:r>
              <a:endParaRPr lang="en-US" altLang="ja-JP" sz="4600" dirty="0">
                <a:cs typeface="Arial" panose="020B0604020202020204" pitchFamily="34" charset="0"/>
              </a:endParaRPr>
            </a:p>
          </p:txBody>
        </p:sp>
        <p:sp>
          <p:nvSpPr>
            <p:cNvPr id="5166" name="Oval 46"/>
            <p:cNvSpPr>
              <a:spLocks noChangeArrowheads="1"/>
            </p:cNvSpPr>
            <p:nvPr/>
          </p:nvSpPr>
          <p:spPr bwMode="auto">
            <a:xfrm>
              <a:off x="10184607" y="2544048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r>
                <a:rPr lang="en-US" altLang="ja-JP" sz="4600" dirty="0">
                  <a:cs typeface="Arial" panose="020B0604020202020204" pitchFamily="34" charset="0"/>
                </a:rPr>
                <a:t>v</a:t>
              </a:r>
              <a:r>
                <a:rPr lang="en-US" altLang="ja-JP" sz="4600" baseline="-25000" dirty="0">
                  <a:cs typeface="Arial" panose="020B0604020202020204" pitchFamily="34" charset="0"/>
                </a:rPr>
                <a:t>2</a:t>
              </a:r>
              <a:endParaRPr lang="en-US" altLang="ja-JP" sz="4600" dirty="0">
                <a:cs typeface="Arial" panose="020B0604020202020204" pitchFamily="34" charset="0"/>
              </a:endParaRPr>
            </a:p>
          </p:txBody>
        </p:sp>
        <p:sp>
          <p:nvSpPr>
            <p:cNvPr id="5167" name="AutoShape 47"/>
            <p:cNvSpPr>
              <a:spLocks noChangeArrowheads="1"/>
            </p:cNvSpPr>
            <p:nvPr/>
          </p:nvSpPr>
          <p:spPr bwMode="auto">
            <a:xfrm>
              <a:off x="10565607" y="24068880"/>
              <a:ext cx="2438400" cy="6096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r>
                <a:rPr lang="en-US" altLang="ja-JP" sz="4600" dirty="0">
                  <a:cs typeface="Arial" panose="020B0604020202020204" pitchFamily="34" charset="0"/>
                </a:rPr>
                <a:t>pooling</a:t>
              </a:r>
            </a:p>
          </p:txBody>
        </p:sp>
        <p:sp>
          <p:nvSpPr>
            <p:cNvPr id="5168" name="Oval 48"/>
            <p:cNvSpPr>
              <a:spLocks noChangeArrowheads="1"/>
            </p:cNvSpPr>
            <p:nvPr/>
          </p:nvSpPr>
          <p:spPr bwMode="auto">
            <a:xfrm>
              <a:off x="12257882" y="2536428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r>
                <a:rPr lang="en-US" altLang="ja-JP" sz="4600" dirty="0">
                  <a:cs typeface="Arial" panose="020B0604020202020204" pitchFamily="34" charset="0"/>
                </a:rPr>
                <a:t>v</a:t>
              </a:r>
              <a:r>
                <a:rPr lang="en-US" altLang="ja-JP" sz="4600" baseline="-25000" dirty="0">
                  <a:cs typeface="Arial" panose="020B0604020202020204" pitchFamily="34" charset="0"/>
                </a:rPr>
                <a:t>n-1</a:t>
              </a:r>
              <a:endParaRPr lang="en-US" altLang="ja-JP" sz="4600" dirty="0">
                <a:cs typeface="Arial" panose="020B0604020202020204" pitchFamily="34" charset="0"/>
              </a:endParaRPr>
            </a:p>
          </p:txBody>
        </p:sp>
        <p:sp>
          <p:nvSpPr>
            <p:cNvPr id="5169" name="Oval 49"/>
            <p:cNvSpPr>
              <a:spLocks noChangeArrowheads="1"/>
            </p:cNvSpPr>
            <p:nvPr/>
          </p:nvSpPr>
          <p:spPr bwMode="auto">
            <a:xfrm>
              <a:off x="13324682" y="2536428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r>
                <a:rPr lang="en-US" altLang="ja-JP" sz="4600" dirty="0">
                  <a:cs typeface="Arial" panose="020B0604020202020204" pitchFamily="34" charset="0"/>
                </a:rPr>
                <a:t>v</a:t>
              </a:r>
              <a:r>
                <a:rPr lang="en-US" altLang="ja-JP" sz="4600" baseline="-25000" dirty="0">
                  <a:cs typeface="Arial" panose="020B0604020202020204" pitchFamily="34" charset="0"/>
                </a:rPr>
                <a:t>n</a:t>
              </a:r>
              <a:endParaRPr lang="en-US" altLang="ja-JP" sz="4600" dirty="0">
                <a:cs typeface="Arial" panose="020B0604020202020204" pitchFamily="34" charset="0"/>
              </a:endParaRPr>
            </a:p>
          </p:txBody>
        </p:sp>
        <p:cxnSp>
          <p:nvCxnSpPr>
            <p:cNvPr id="5170" name="AutoShape 50"/>
            <p:cNvCxnSpPr>
              <a:cxnSpLocks noChangeShapeType="1"/>
              <a:stCxn id="5166" idx="0"/>
              <a:endCxn id="5167" idx="2"/>
            </p:cNvCxnSpPr>
            <p:nvPr/>
          </p:nvCxnSpPr>
          <p:spPr bwMode="auto">
            <a:xfrm flipV="1">
              <a:off x="10679907" y="24678480"/>
              <a:ext cx="1104900" cy="762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71" name="AutoShape 51"/>
            <p:cNvCxnSpPr>
              <a:cxnSpLocks noChangeShapeType="1"/>
              <a:stCxn id="5168" idx="0"/>
              <a:endCxn id="5167" idx="2"/>
            </p:cNvCxnSpPr>
            <p:nvPr/>
          </p:nvCxnSpPr>
          <p:spPr bwMode="auto">
            <a:xfrm flipH="1" flipV="1">
              <a:off x="11784808" y="24678480"/>
              <a:ext cx="968375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72" name="AutoShape 52"/>
            <p:cNvCxnSpPr>
              <a:cxnSpLocks noChangeShapeType="1"/>
              <a:stCxn id="5169" idx="0"/>
              <a:endCxn id="5167" idx="2"/>
            </p:cNvCxnSpPr>
            <p:nvPr/>
          </p:nvCxnSpPr>
          <p:spPr bwMode="auto">
            <a:xfrm flipH="1" flipV="1">
              <a:off x="11784808" y="24678480"/>
              <a:ext cx="2035175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74" name="AutoShape 54"/>
            <p:cNvCxnSpPr>
              <a:cxnSpLocks noChangeShapeType="1"/>
              <a:stCxn id="5167" idx="0"/>
              <a:endCxn id="5162" idx="4"/>
            </p:cNvCxnSpPr>
            <p:nvPr/>
          </p:nvCxnSpPr>
          <p:spPr bwMode="auto">
            <a:xfrm flipV="1">
              <a:off x="11784807" y="23535480"/>
              <a:ext cx="38100" cy="533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75" name="Text Box 55"/>
            <p:cNvSpPr txBox="1">
              <a:spLocks noChangeArrowheads="1"/>
            </p:cNvSpPr>
            <p:nvPr/>
          </p:nvSpPr>
          <p:spPr bwMode="auto">
            <a:xfrm>
              <a:off x="11092657" y="24907081"/>
              <a:ext cx="1225550" cy="1341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dirty="0">
                  <a:cs typeface="Arial" panose="020B0604020202020204" pitchFamily="34" charset="0"/>
                </a:rPr>
                <a:t>…</a:t>
              </a:r>
            </a:p>
          </p:txBody>
        </p:sp>
        <p:graphicFrame>
          <p:nvGraphicFramePr>
            <p:cNvPr id="5177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2697656"/>
                </p:ext>
              </p:extLst>
            </p:nvPr>
          </p:nvGraphicFramePr>
          <p:xfrm>
            <a:off x="1955007" y="24145080"/>
            <a:ext cx="5524500" cy="205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5" name="Equation" r:id="rId9" imgW="1155600" imgH="520560" progId="Equation.3">
                    <p:embed/>
                  </p:oleObj>
                </mc:Choice>
                <mc:Fallback>
                  <p:oleObj name="Equation" r:id="rId9" imgW="1155600" imgH="52056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5007" y="24145080"/>
                          <a:ext cx="5524500" cy="2057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9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3856232"/>
                </p:ext>
              </p:extLst>
            </p:nvPr>
          </p:nvGraphicFramePr>
          <p:xfrm>
            <a:off x="1955008" y="22452807"/>
            <a:ext cx="6308725" cy="1093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" name="Equation" r:id="rId11" imgW="1320480" imgH="228600" progId="Equation.3">
                    <p:embed/>
                  </p:oleObj>
                </mc:Choice>
                <mc:Fallback>
                  <p:oleObj name="Equation" r:id="rId11" imgW="1320480" imgH="22860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5008" y="22452807"/>
                          <a:ext cx="6308725" cy="1093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Callout 2 (Border and Accent Bar) 3"/>
            <p:cNvSpPr/>
            <p:nvPr/>
          </p:nvSpPr>
          <p:spPr bwMode="auto">
            <a:xfrm flipH="1">
              <a:off x="1650207" y="22492491"/>
              <a:ext cx="7010400" cy="922337"/>
            </a:xfrm>
            <a:prstGeom prst="accentBorderCallout2">
              <a:avLst>
                <a:gd name="adj1" fmla="val 26923"/>
                <a:gd name="adj2" fmla="val -1601"/>
                <a:gd name="adj3" fmla="val 18750"/>
                <a:gd name="adj4" fmla="val -16667"/>
                <a:gd name="adj5" fmla="val 147918"/>
                <a:gd name="adj6" fmla="val -31099"/>
              </a:avLst>
            </a:prstGeom>
            <a:noFill/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4176713"/>
              <a:endParaRPr lang="ja-JP" altLang="en-US" sz="8200">
                <a:cs typeface="Arial" panose="020B0604020202020204" pitchFamily="34" charset="0"/>
              </a:endParaRPr>
            </a:p>
          </p:txBody>
        </p:sp>
        <p:sp>
          <p:nvSpPr>
            <p:cNvPr id="44" name="Line Callout 2 (Border and Accent Bar) 43"/>
            <p:cNvSpPr/>
            <p:nvPr/>
          </p:nvSpPr>
          <p:spPr bwMode="auto">
            <a:xfrm flipH="1">
              <a:off x="1726407" y="24137143"/>
              <a:ext cx="6880225" cy="2065337"/>
            </a:xfrm>
            <a:prstGeom prst="accentBorderCallout2">
              <a:avLst>
                <a:gd name="adj1" fmla="val 24463"/>
                <a:gd name="adj2" fmla="val -1902"/>
                <a:gd name="adj3" fmla="val 18750"/>
                <a:gd name="adj4" fmla="val -16667"/>
                <a:gd name="adj5" fmla="val 13669"/>
                <a:gd name="adj6" fmla="val -26812"/>
              </a:avLst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4176713"/>
              <a:endParaRPr lang="ja-JP" altLang="en-US" sz="8200">
                <a:cs typeface="Arial" panose="020B0604020202020204" pitchFamily="34" charset="0"/>
              </a:endParaRPr>
            </a:p>
          </p:txBody>
        </p:sp>
        <p:sp>
          <p:nvSpPr>
            <p:cNvPr id="45" name="Line Callout 2 (Border and Accent Bar) 44"/>
            <p:cNvSpPr/>
            <p:nvPr/>
          </p:nvSpPr>
          <p:spPr bwMode="auto">
            <a:xfrm flipH="1">
              <a:off x="1650206" y="20858956"/>
              <a:ext cx="7010400" cy="863598"/>
            </a:xfrm>
            <a:prstGeom prst="accentBorderCallout2">
              <a:avLst>
                <a:gd name="adj1" fmla="val 26334"/>
                <a:gd name="adj2" fmla="val -2022"/>
                <a:gd name="adj3" fmla="val 18750"/>
                <a:gd name="adj4" fmla="val -16667"/>
                <a:gd name="adj5" fmla="val -22721"/>
                <a:gd name="adj6" fmla="val -42459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4176713"/>
              <a:endParaRPr lang="ja-JP" altLang="en-US" sz="8200">
                <a:cs typeface="Arial" panose="020B0604020202020204" pitchFamily="34" charset="0"/>
              </a:endParaRPr>
            </a:p>
          </p:txBody>
        </p:sp>
        <p:sp>
          <p:nvSpPr>
            <p:cNvPr id="46" name="AutoShape 39"/>
            <p:cNvSpPr>
              <a:spLocks noChangeArrowheads="1"/>
            </p:cNvSpPr>
            <p:nvPr/>
          </p:nvSpPr>
          <p:spPr bwMode="auto">
            <a:xfrm>
              <a:off x="12623007" y="22233730"/>
              <a:ext cx="2027340" cy="1530350"/>
            </a:xfrm>
            <a:prstGeom prst="wedgeRectCallout">
              <a:avLst>
                <a:gd name="adj1" fmla="val -75457"/>
                <a:gd name="adj2" fmla="val 6571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defTabSz="4176713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defTabSz="41767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/>
              <a:endParaRPr lang="ja-JP" altLang="ja-JP" dirty="0">
                <a:cs typeface="Arial" panose="020B0604020202020204" pitchFamily="34" charset="0"/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 bwMode="auto">
            <a:xfrm>
              <a:off x="12995863" y="23546593"/>
              <a:ext cx="1287463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Straight Arrow Connector 49"/>
            <p:cNvCxnSpPr/>
            <p:nvPr/>
          </p:nvCxnSpPr>
          <p:spPr bwMode="auto">
            <a:xfrm flipV="1">
              <a:off x="12987924" y="22441692"/>
              <a:ext cx="23814" cy="11699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" name="TextBox 10"/>
            <p:cNvSpPr txBox="1"/>
            <p:nvPr/>
          </p:nvSpPr>
          <p:spPr>
            <a:xfrm>
              <a:off x="12606924" y="22159416"/>
              <a:ext cx="4523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cs typeface="Arial" panose="020B0604020202020204" pitchFamily="34" charset="0"/>
                </a:rPr>
                <a:t>v</a:t>
              </a:r>
              <a:r>
                <a:rPr lang="en-US" altLang="ja-JP" sz="2400" baseline="-25000" dirty="0">
                  <a:cs typeface="Arial" panose="020B0604020202020204" pitchFamily="34" charset="0"/>
                </a:rPr>
                <a:t>1</a:t>
              </a:r>
              <a:endParaRPr lang="ja-JP" altLang="en-US" sz="2400" baseline="-25000" dirty="0">
                <a:cs typeface="Arial" panose="020B0604020202020204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4299406" y="23302416"/>
              <a:ext cx="4523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cs typeface="Arial" panose="020B0604020202020204" pitchFamily="34" charset="0"/>
                </a:rPr>
                <a:t>v</a:t>
              </a:r>
              <a:r>
                <a:rPr lang="en-US" altLang="ja-JP" sz="2400" baseline="-25000" dirty="0">
                  <a:cs typeface="Arial" panose="020B0604020202020204" pitchFamily="34" charset="0"/>
                </a:rPr>
                <a:t>2</a:t>
              </a:r>
              <a:endParaRPr lang="ja-JP" altLang="en-US" sz="2400" baseline="-25000" dirty="0">
                <a:cs typeface="Arial" panose="020B0604020202020204" pitchFamily="34" charset="0"/>
              </a:endParaRPr>
            </a:p>
          </p:txBody>
        </p:sp>
        <p:sp>
          <p:nvSpPr>
            <p:cNvPr id="12" name="Arc 11"/>
            <p:cNvSpPr/>
            <p:nvPr/>
          </p:nvSpPr>
          <p:spPr bwMode="auto">
            <a:xfrm>
              <a:off x="11975513" y="22621080"/>
              <a:ext cx="2193925" cy="2057400"/>
            </a:xfrm>
            <a:prstGeom prst="arc">
              <a:avLst/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4176713"/>
              <a:endParaRPr lang="ja-JP" altLang="en-US" sz="8200">
                <a:cs typeface="Arial" panose="020B0604020202020204" pitchFamily="34" charset="0"/>
              </a:endParaRPr>
            </a:p>
          </p:txBody>
        </p:sp>
        <p:cxnSp>
          <p:nvCxnSpPr>
            <p:cNvPr id="57" name="Straight Arrow Connector 56"/>
            <p:cNvCxnSpPr/>
            <p:nvPr/>
          </p:nvCxnSpPr>
          <p:spPr bwMode="auto">
            <a:xfrm>
              <a:off x="13004008" y="22632807"/>
              <a:ext cx="1181511" cy="1172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Straight Arrow Connector 57"/>
            <p:cNvCxnSpPr>
              <a:stCxn id="12" idx="2"/>
            </p:cNvCxnSpPr>
            <p:nvPr/>
          </p:nvCxnSpPr>
          <p:spPr bwMode="auto">
            <a:xfrm flipV="1">
              <a:off x="14169438" y="22644536"/>
              <a:ext cx="16081" cy="1005245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5" name="Rectangle 28"/>
          <p:cNvSpPr>
            <a:spLocks noChangeArrowheads="1"/>
          </p:cNvSpPr>
          <p:nvPr/>
        </p:nvSpPr>
        <p:spPr bwMode="auto">
          <a:xfrm>
            <a:off x="15121562" y="22416642"/>
            <a:ext cx="14854240" cy="1113512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17643" tIns="208822" rIns="417643" bIns="208822"/>
          <a:lstStyle>
            <a:lvl1pPr marL="714375" indent="-714375" defTabSz="4176713">
              <a:spcBef>
                <a:spcPct val="20000"/>
              </a:spcBef>
              <a:buChar char="•"/>
              <a:defRPr kumimoji="1" sz="1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1428750" indent="-438150" defTabSz="4176713">
              <a:spcBef>
                <a:spcPct val="20000"/>
              </a:spcBef>
              <a:buChar char="–"/>
              <a:defRPr kumimoji="1" sz="11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5221288" indent="-1044575" defTabSz="4176713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7308850" indent="-1044575" defTabSz="4176713">
              <a:spcBef>
                <a:spcPct val="20000"/>
              </a:spcBef>
              <a:buChar char="–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9396413" indent="-1042988" defTabSz="4176713">
              <a:spcBef>
                <a:spcPct val="20000"/>
              </a:spcBef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98536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103108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07680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12252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ja-JP" sz="6000" dirty="0">
                <a:cs typeface="Arial" panose="020B0604020202020204" pitchFamily="34" charset="0"/>
              </a:rPr>
              <a:t>Online learning of a</a:t>
            </a:r>
            <a:r>
              <a:rPr lang="x-none" altLang="ja-JP" sz="6000" dirty="0">
                <a:cs typeface="Arial" panose="020B0604020202020204" pitchFamily="34" charset="0"/>
              </a:rPr>
              <a:t> </a:t>
            </a:r>
            <a:r>
              <a:rPr lang="en-US" altLang="ja-JP" sz="6000" dirty="0">
                <a:cs typeface="Arial" panose="020B0604020202020204" pitchFamily="34" charset="0"/>
              </a:rPr>
              <a:t>left-to-right </a:t>
            </a:r>
            <a:r>
              <a:rPr lang="x-none" altLang="ja-JP" sz="6000" dirty="0">
                <a:cs typeface="Arial" panose="020B0604020202020204" pitchFamily="34" charset="0"/>
              </a:rPr>
              <a:t>t</a:t>
            </a:r>
            <a:r>
              <a:rPr lang="en-US" altLang="ja-JP" sz="6000" dirty="0">
                <a:cs typeface="Arial" panose="020B0604020202020204" pitchFamily="34" charset="0"/>
              </a:rPr>
              <a:t>agger</a:t>
            </a: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Deterministically </a:t>
            </a:r>
            <a:r>
              <a:rPr lang="en-US" altLang="ja-JP" sz="4800" dirty="0" smtClean="0">
                <a:cs typeface="Arial" panose="020B0604020202020204" pitchFamily="34" charset="0"/>
              </a:rPr>
              <a:t>predicts </a:t>
            </a:r>
            <a:r>
              <a:rPr lang="en-US" altLang="ja-JP" sz="4800" dirty="0">
                <a:cs typeface="Arial" panose="020B0604020202020204" pitchFamily="34" charset="0"/>
              </a:rPr>
              <a:t>each tag using prediction history </a:t>
            </a:r>
            <a:r>
              <a:rPr lang="en-US" altLang="ja-JP" sz="2400" dirty="0">
                <a:cs typeface="Arial" panose="020B0604020202020204" pitchFamily="34" charset="0"/>
              </a:rPr>
              <a:t>(Choi and Palmer, 2012) </a:t>
            </a:r>
          </a:p>
          <a:p>
            <a:pPr lvl="1">
              <a:lnSpc>
                <a:spcPct val="90000"/>
              </a:lnSpc>
            </a:pPr>
            <a:r>
              <a:rPr lang="en-US" altLang="ja-JP" sz="4100" dirty="0">
                <a:cs typeface="Arial" panose="020B0604020202020204" pitchFamily="34" charset="0"/>
              </a:rPr>
              <a:t>Binary features: N-grams, affix, spelling types, etc.</a:t>
            </a: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A variant of the on-the-fly example generation algorithm </a:t>
            </a:r>
            <a:r>
              <a:rPr lang="en-US" altLang="ja-JP" sz="2400" dirty="0">
                <a:cs typeface="Arial" panose="020B0604020202020204" pitchFamily="34" charset="0"/>
              </a:rPr>
              <a:t>(Goldberg and Nivre, 2012)</a:t>
            </a:r>
          </a:p>
          <a:p>
            <a:pPr lvl="1">
              <a:lnSpc>
                <a:spcPct val="90000"/>
              </a:lnSpc>
            </a:pPr>
            <a:r>
              <a:rPr lang="en-US" altLang="ja-JP" sz="4100" dirty="0">
                <a:cs typeface="Arial" panose="020B0604020202020204" pitchFamily="34" charset="0"/>
              </a:rPr>
              <a:t>Using the prediction of the previously learned model as prediction history to overcome error propagation.</a:t>
            </a: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FTRLProximal algorithm </a:t>
            </a:r>
            <a:r>
              <a:rPr lang="en-US" altLang="ja-JP" sz="2400" dirty="0">
                <a:cs typeface="Arial" panose="020B0604020202020204" pitchFamily="34" charset="0"/>
              </a:rPr>
              <a:t>(McMahan, 2011) </a:t>
            </a:r>
            <a:r>
              <a:rPr lang="en-US" altLang="ja-JP" sz="4800" dirty="0">
                <a:cs typeface="Arial" panose="020B0604020202020204" pitchFamily="34" charset="0"/>
              </a:rPr>
              <a:t>with Adagrad </a:t>
            </a:r>
            <a:r>
              <a:rPr lang="en-US" altLang="ja-JP" sz="2400" dirty="0">
                <a:cs typeface="Arial" panose="020B0604020202020204" pitchFamily="34" charset="0"/>
              </a:rPr>
              <a:t>(Duchi et al., 2010)</a:t>
            </a:r>
          </a:p>
          <a:p>
            <a:pPr lvl="1">
              <a:lnSpc>
                <a:spcPct val="90000"/>
              </a:lnSpc>
            </a:pPr>
            <a:r>
              <a:rPr lang="en-US" altLang="ja-JP" sz="4100" dirty="0" smtClean="0">
                <a:cs typeface="Arial" panose="020B0604020202020204" pitchFamily="34" charset="0"/>
              </a:rPr>
              <a:t>Multi-class </a:t>
            </a:r>
            <a:r>
              <a:rPr lang="en-US" altLang="ja-JP" sz="4100" dirty="0">
                <a:cs typeface="Arial" panose="020B0604020202020204" pitchFamily="34" charset="0"/>
              </a:rPr>
              <a:t>hinge loss + L1/L2 </a:t>
            </a:r>
            <a:r>
              <a:rPr lang="en-US" altLang="ja-JP" sz="4100" dirty="0" smtClean="0">
                <a:cs typeface="Arial" panose="020B0604020202020204" pitchFamily="34" charset="0"/>
              </a:rPr>
              <a:t>regularization terms</a:t>
            </a:r>
            <a:endParaRPr lang="en-US" altLang="ja-JP" sz="4100" dirty="0">
              <a:cs typeface="Arial" panose="020B0604020202020204" pitchFamily="34" charset="0"/>
            </a:endParaRPr>
          </a:p>
          <a:p>
            <a:r>
              <a:rPr lang="en-US" altLang="ja-JP" sz="4800" dirty="0">
                <a:cs typeface="Arial" panose="020B0604020202020204" pitchFamily="34" charset="0"/>
              </a:rPr>
              <a:t>Random hyper-parameter </a:t>
            </a:r>
            <a:r>
              <a:rPr lang="en-US" altLang="ja-JP" sz="4800" dirty="0" smtClean="0">
                <a:cs typeface="Arial" panose="020B0604020202020204" pitchFamily="34" charset="0"/>
              </a:rPr>
              <a:t>searches </a:t>
            </a:r>
            <a:r>
              <a:rPr lang="en-US" altLang="ja-JP" sz="5900" dirty="0">
                <a:cs typeface="Arial" panose="020B0604020202020204" pitchFamily="34" charset="0"/>
              </a:rPr>
              <a:t/>
            </a:r>
            <a:br>
              <a:rPr lang="en-US" altLang="ja-JP" sz="5900" dirty="0">
                <a:cs typeface="Arial" panose="020B0604020202020204" pitchFamily="34" charset="0"/>
              </a:rPr>
            </a:br>
            <a:r>
              <a:rPr lang="en-US" altLang="ja-JP" sz="2400" dirty="0" smtClean="0"/>
              <a:t>(</a:t>
            </a:r>
            <a:r>
              <a:rPr lang="en-US" altLang="ja-JP" sz="2400" dirty="0" err="1"/>
              <a:t>Bergstra</a:t>
            </a:r>
            <a:r>
              <a:rPr lang="en-US" altLang="ja-JP" sz="2400" dirty="0"/>
              <a:t> and </a:t>
            </a:r>
            <a:r>
              <a:rPr lang="en-US" altLang="ja-JP" sz="2400" dirty="0" err="1" smtClean="0"/>
              <a:t>Bengio</a:t>
            </a:r>
            <a:r>
              <a:rPr lang="en-US" altLang="ja-JP" sz="2400" dirty="0" smtClean="0"/>
              <a:t>,</a:t>
            </a:r>
            <a:r>
              <a:rPr lang="ja-JP" altLang="en-US" sz="2400" dirty="0" smtClean="0"/>
              <a:t>　</a:t>
            </a:r>
            <a:r>
              <a:rPr lang="en-US" altLang="ja-JP" sz="2400" dirty="0" smtClean="0"/>
              <a:t>2012</a:t>
            </a:r>
            <a:r>
              <a:rPr lang="en-US" altLang="ja-JP" sz="2400" dirty="0"/>
              <a:t>)</a:t>
            </a:r>
            <a:endParaRPr lang="en-US" altLang="ja-JP" sz="2400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ja-JP" sz="4100" dirty="0">
                <a:cs typeface="Arial" panose="020B0604020202020204" pitchFamily="34" charset="0"/>
              </a:rPr>
              <a:t>Initial </a:t>
            </a:r>
            <a:r>
              <a:rPr lang="en-US" altLang="ja-JP" sz="4100" dirty="0" smtClean="0">
                <a:cs typeface="Arial" panose="020B0604020202020204" pitchFamily="34" charset="0"/>
              </a:rPr>
              <a:t>weights; </a:t>
            </a:r>
            <a:r>
              <a:rPr lang="x-none" altLang="ja-JP" sz="4400" dirty="0" smtClean="0">
                <a:latin typeface="Arial" pitchFamily="18"/>
                <a:cs typeface="Tahoma" pitchFamily="2"/>
              </a:rPr>
              <a:t>initial </a:t>
            </a:r>
            <a:r>
              <a:rPr lang="x-none" altLang="ja-JP" sz="4400" dirty="0">
                <a:latin typeface="Arial" pitchFamily="18"/>
                <a:cs typeface="Tahoma" pitchFamily="2"/>
              </a:rPr>
              <a:t>weight </a:t>
            </a:r>
            <a:r>
              <a:rPr lang="x-none" altLang="ja-JP" sz="4400" dirty="0" smtClean="0">
                <a:latin typeface="Arial" pitchFamily="18"/>
                <a:cs typeface="Tahoma" pitchFamily="2"/>
              </a:rPr>
              <a:t>range</a:t>
            </a:r>
            <a:r>
              <a:rPr lang="en-US" altLang="ja-JP" sz="4400" dirty="0" smtClean="0">
                <a:latin typeface="Arial" pitchFamily="18"/>
                <a:cs typeface="Tahoma" pitchFamily="2"/>
              </a:rPr>
              <a:t>; </a:t>
            </a:r>
            <a:r>
              <a:rPr lang="en-US" altLang="ja-JP" sz="4100" dirty="0" smtClean="0">
                <a:cs typeface="Arial" panose="020B0604020202020204" pitchFamily="34" charset="0"/>
              </a:rPr>
              <a:t>momentum</a:t>
            </a:r>
            <a:r>
              <a:rPr lang="en-US" altLang="ja-JP" sz="4100" dirty="0">
                <a:cs typeface="Arial" panose="020B0604020202020204" pitchFamily="34" charset="0"/>
              </a:rPr>
              <a:t>;</a:t>
            </a:r>
            <a:r>
              <a:rPr lang="en-US" altLang="ja-JP" sz="4100" dirty="0" smtClean="0">
                <a:cs typeface="Arial" panose="020B0604020202020204" pitchFamily="34" charset="0"/>
              </a:rPr>
              <a:t> </a:t>
            </a:r>
            <a:r>
              <a:rPr lang="en-US" altLang="ja-JP" sz="4100" dirty="0">
                <a:cs typeface="Arial" panose="020B0604020202020204" pitchFamily="34" charset="0"/>
              </a:rPr>
              <a:t>learning </a:t>
            </a:r>
            <a:r>
              <a:rPr lang="en-US" altLang="ja-JP" sz="4100" dirty="0" smtClean="0">
                <a:cs typeface="Arial" panose="020B0604020202020204" pitchFamily="34" charset="0"/>
              </a:rPr>
              <a:t>rate; regularization, </a:t>
            </a:r>
            <a:r>
              <a:rPr lang="x-none" altLang="ja-JP" sz="4400" dirty="0" smtClean="0">
                <a:latin typeface="Arial" pitchFamily="18"/>
                <a:cs typeface="Tahoma" pitchFamily="2"/>
              </a:rPr>
              <a:t>epoch </a:t>
            </a:r>
            <a:r>
              <a:rPr lang="x-none" altLang="ja-JP" sz="4400" dirty="0">
                <a:latin typeface="Arial" pitchFamily="18"/>
                <a:cs typeface="Tahoma" pitchFamily="2"/>
              </a:rPr>
              <a:t>to start the </a:t>
            </a:r>
            <a:r>
              <a:rPr lang="x-none" altLang="ja-JP" sz="4400" dirty="0" smtClean="0">
                <a:latin typeface="Arial" pitchFamily="18"/>
                <a:cs typeface="Tahoma" pitchFamily="2"/>
              </a:rPr>
              <a:t>regularizations</a:t>
            </a:r>
            <a:r>
              <a:rPr lang="en-US" altLang="ja-JP" sz="4400" dirty="0" smtClean="0">
                <a:latin typeface="Arial" pitchFamily="18"/>
                <a:cs typeface="Tahoma" pitchFamily="2"/>
              </a:rPr>
              <a:t>,</a:t>
            </a:r>
            <a:r>
              <a:rPr lang="en-US" altLang="ja-JP" sz="4100" dirty="0" smtClean="0">
                <a:cs typeface="Arial" panose="020B0604020202020204" pitchFamily="34" charset="0"/>
              </a:rPr>
              <a:t> etc. (</a:t>
            </a:r>
            <a:r>
              <a:rPr lang="x-none" altLang="ja-JP" sz="4400" dirty="0" smtClean="0">
                <a:latin typeface="Arial" pitchFamily="18"/>
                <a:cs typeface="Tahoma" pitchFamily="2"/>
              </a:rPr>
              <a:t>256 initial </a:t>
            </a:r>
            <a:r>
              <a:rPr lang="x-none" altLang="ja-JP" sz="4400" dirty="0">
                <a:latin typeface="Arial" pitchFamily="18"/>
                <a:cs typeface="Tahoma" pitchFamily="2"/>
              </a:rPr>
              <a:t>weights are tried</a:t>
            </a:r>
            <a:r>
              <a:rPr lang="x-none" altLang="ja-JP" sz="4400" dirty="0" smtClean="0">
                <a:latin typeface="Arial" pitchFamily="18"/>
                <a:cs typeface="Tahoma" pitchFamily="2"/>
              </a:rPr>
              <a:t>!</a:t>
            </a:r>
            <a:r>
              <a:rPr lang="en-US" altLang="ja-JP" sz="4400" dirty="0" smtClean="0">
                <a:latin typeface="Arial" pitchFamily="18"/>
                <a:cs typeface="Tahoma" pitchFamily="2"/>
              </a:rPr>
              <a:t>)</a:t>
            </a:r>
          </a:p>
          <a:p>
            <a:pPr lvl="1">
              <a:lnSpc>
                <a:spcPct val="90000"/>
              </a:lnSpc>
            </a:pPr>
            <a:endParaRPr lang="x-none" altLang="ja-JP" sz="4400" dirty="0">
              <a:latin typeface="Arial" pitchFamily="18"/>
              <a:cs typeface="Tahoma" pitchFamily="2"/>
            </a:endParaRPr>
          </a:p>
        </p:txBody>
      </p:sp>
      <p:sp>
        <p:nvSpPr>
          <p:cNvPr id="66" name="Rectangle 28"/>
          <p:cNvSpPr>
            <a:spLocks noChangeArrowheads="1"/>
          </p:cNvSpPr>
          <p:nvPr/>
        </p:nvSpPr>
        <p:spPr bwMode="auto">
          <a:xfrm>
            <a:off x="355726" y="35131309"/>
            <a:ext cx="14325600" cy="724192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17643" tIns="208822" rIns="417643" bIns="208822"/>
          <a:lstStyle>
            <a:lvl1pPr marL="714375" indent="-714375" defTabSz="4176713">
              <a:spcBef>
                <a:spcPct val="20000"/>
              </a:spcBef>
              <a:buChar char="•"/>
              <a:defRPr kumimoji="1" sz="1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1428750" indent="-438150" defTabSz="4176713">
              <a:spcBef>
                <a:spcPct val="20000"/>
              </a:spcBef>
              <a:buChar char="–"/>
              <a:defRPr kumimoji="1" sz="11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5221288" indent="-1044575" defTabSz="4176713">
              <a:spcBef>
                <a:spcPct val="20000"/>
              </a:spcBef>
              <a:buChar char="•"/>
              <a:defRPr kumimoji="1" sz="9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7308850" indent="-1044575" defTabSz="4176713">
              <a:spcBef>
                <a:spcPct val="20000"/>
              </a:spcBef>
              <a:buChar char="–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9396413" indent="-1042988" defTabSz="4176713">
              <a:spcBef>
                <a:spcPct val="20000"/>
              </a:spcBef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98536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103108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107680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11225213" indent="-1042988" defTabSz="4176713" fontAlgn="base">
              <a:spcBef>
                <a:spcPct val="20000"/>
              </a:spcBef>
              <a:spcAft>
                <a:spcPct val="0"/>
              </a:spcAft>
              <a:buChar char="»"/>
              <a:defRPr kumimoji="1" sz="8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ja-JP" sz="6000" dirty="0">
                <a:cs typeface="Arial" panose="020B0604020202020204" pitchFamily="34" charset="0"/>
              </a:rPr>
              <a:t>Feature engineering </a:t>
            </a:r>
            <a:r>
              <a:rPr lang="en-US" altLang="ja-JP" sz="6000" dirty="0" smtClean="0">
                <a:cs typeface="Arial" panose="020B0604020202020204" pitchFamily="34" charset="0"/>
              </a:rPr>
              <a:t>using linear model </a:t>
            </a:r>
            <a:endParaRPr lang="en-US" altLang="ja-JP" sz="6000" dirty="0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ja-JP" sz="4800" dirty="0">
                <a:cs typeface="Arial" panose="020B0604020202020204" pitchFamily="34" charset="0"/>
              </a:rPr>
              <a:t>Evaluation </a:t>
            </a:r>
            <a:r>
              <a:rPr lang="en-US" altLang="ja-JP" sz="4800" dirty="0" smtClean="0">
                <a:cs typeface="Arial" panose="020B0604020202020204" pitchFamily="34" charset="0"/>
              </a:rPr>
              <a:t>results of corpus-wide features on </a:t>
            </a:r>
            <a:r>
              <a:rPr lang="en-US" altLang="ja-JP" sz="4800" dirty="0">
                <a:cs typeface="Arial" panose="020B0604020202020204" pitchFamily="34" charset="0"/>
              </a:rPr>
              <a:t>dev</a:t>
            </a:r>
            <a:r>
              <a:rPr lang="en-US" altLang="ja-JP" sz="4800" dirty="0" smtClean="0">
                <a:cs typeface="Arial" panose="020B0604020202020204" pitchFamily="34" charset="0"/>
              </a:rPr>
              <a:t>. set.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532261" y="39939364"/>
            <a:ext cx="1753007" cy="13261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4176713"/>
            <a:r>
              <a:rPr lang="en-US" altLang="ja-JP" sz="4000" dirty="0">
                <a:cs typeface="Arial" panose="020B0604020202020204" pitchFamily="34" charset="0"/>
              </a:rPr>
              <a:t>97.15 / 86.81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4770751" y="38230536"/>
            <a:ext cx="1753007" cy="13261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4176713"/>
            <a:r>
              <a:rPr lang="en-US" altLang="ja-JP" sz="4000" dirty="0">
                <a:cs typeface="Arial" panose="020B0604020202020204" pitchFamily="34" charset="0"/>
              </a:rPr>
              <a:t>97.36 / 88.96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4770751" y="40952201"/>
            <a:ext cx="1753007" cy="13261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4176713"/>
            <a:r>
              <a:rPr lang="en-US" altLang="ja-JP" sz="4000" dirty="0">
                <a:cs typeface="Arial" panose="020B0604020202020204" pitchFamily="34" charset="0"/>
              </a:rPr>
              <a:t>97.34 / 89.55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6797781" y="39854163"/>
            <a:ext cx="1753007" cy="13261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4176713"/>
            <a:r>
              <a:rPr lang="en-US" altLang="ja-JP" sz="4000" dirty="0">
                <a:cs typeface="Arial" panose="020B0604020202020204" pitchFamily="34" charset="0"/>
              </a:rPr>
              <a:t>97.40 / 90.44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6828541" y="37100182"/>
            <a:ext cx="5830003" cy="10772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4176713"/>
            <a:r>
              <a:rPr lang="en-US" altLang="ja-JP" sz="3200" dirty="0" smtClean="0">
                <a:cs typeface="Arial" panose="020B0604020202020204" pitchFamily="34" charset="0"/>
              </a:rPr>
              <a:t>All token accuracy (%). </a:t>
            </a:r>
            <a:r>
              <a:rPr lang="en-US" altLang="ja-JP" sz="3200" dirty="0">
                <a:cs typeface="Arial" panose="020B0604020202020204" pitchFamily="34" charset="0"/>
              </a:rPr>
              <a:t>/ </a:t>
            </a:r>
            <a:r>
              <a:rPr lang="en-US" altLang="ja-JP" sz="3200" dirty="0" smtClean="0">
                <a:cs typeface="Arial" panose="020B0604020202020204" pitchFamily="34" charset="0"/>
              </a:rPr>
              <a:t/>
            </a:r>
            <a:br>
              <a:rPr lang="en-US" altLang="ja-JP" sz="3200" dirty="0" smtClean="0">
                <a:cs typeface="Arial" panose="020B0604020202020204" pitchFamily="34" charset="0"/>
              </a:rPr>
            </a:br>
            <a:r>
              <a:rPr lang="en-US" altLang="ja-JP" sz="3200" dirty="0" smtClean="0">
                <a:cs typeface="Arial" panose="020B0604020202020204" pitchFamily="34" charset="0"/>
              </a:rPr>
              <a:t>Unknown</a:t>
            </a:r>
            <a:r>
              <a:rPr lang="ja-JP" altLang="en-US" sz="3200" dirty="0">
                <a:cs typeface="Arial" panose="020B0604020202020204" pitchFamily="34" charset="0"/>
              </a:rPr>
              <a:t> </a:t>
            </a:r>
            <a:r>
              <a:rPr lang="en-US" altLang="ja-JP" sz="3200" dirty="0" smtClean="0">
                <a:cs typeface="Arial" panose="020B0604020202020204" pitchFamily="34" charset="0"/>
              </a:rPr>
              <a:t>token </a:t>
            </a:r>
            <a:r>
              <a:rPr lang="en-US" altLang="ja-JP" sz="3200" dirty="0" smtClean="0">
                <a:cs typeface="Arial" panose="020B0604020202020204" pitchFamily="34" charset="0"/>
              </a:rPr>
              <a:t>accuracy (%)</a:t>
            </a:r>
            <a:endParaRPr lang="ja-JP" altLang="en-US" sz="3200" dirty="0">
              <a:cs typeface="Arial" panose="020B0604020202020204" pitchFamily="34" charset="0"/>
            </a:endParaRPr>
          </a:p>
        </p:txBody>
      </p:sp>
      <p:cxnSp>
        <p:nvCxnSpPr>
          <p:cNvPr id="21" name="Straight Arrow Connector 20"/>
          <p:cNvCxnSpPr>
            <a:stCxn id="19" idx="3"/>
            <a:endCxn id="68" idx="1"/>
          </p:cNvCxnSpPr>
          <p:nvPr/>
        </p:nvCxnSpPr>
        <p:spPr bwMode="auto">
          <a:xfrm flipV="1">
            <a:off x="2285268" y="38893614"/>
            <a:ext cx="2485483" cy="17088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Arrow Connector 74"/>
          <p:cNvCxnSpPr>
            <a:stCxn id="19" idx="3"/>
            <a:endCxn id="69" idx="1"/>
          </p:cNvCxnSpPr>
          <p:nvPr/>
        </p:nvCxnSpPr>
        <p:spPr bwMode="auto">
          <a:xfrm>
            <a:off x="2285268" y="40602442"/>
            <a:ext cx="2485483" cy="10128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Straight Arrow Connector 77"/>
          <p:cNvCxnSpPr>
            <a:stCxn id="19" idx="3"/>
            <a:endCxn id="70" idx="1"/>
          </p:cNvCxnSpPr>
          <p:nvPr/>
        </p:nvCxnSpPr>
        <p:spPr bwMode="auto">
          <a:xfrm flipV="1">
            <a:off x="2285268" y="40517241"/>
            <a:ext cx="4512513" cy="852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Rectangle 82"/>
          <p:cNvSpPr/>
          <p:nvPr/>
        </p:nvSpPr>
        <p:spPr bwMode="auto">
          <a:xfrm>
            <a:off x="9879399" y="39848186"/>
            <a:ext cx="1753007" cy="13261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4176713"/>
            <a:r>
              <a:rPr lang="en-US" altLang="ja-JP" sz="4000" dirty="0">
                <a:cs typeface="Arial" panose="020B0604020202020204" pitchFamily="34" charset="0"/>
              </a:rPr>
              <a:t>97.44 / 90.17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12780631" y="38474653"/>
            <a:ext cx="1753007" cy="13261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4176713"/>
            <a:r>
              <a:rPr lang="en-US" altLang="ja-JP" sz="4000" dirty="0">
                <a:cs typeface="Arial" panose="020B0604020202020204" pitchFamily="34" charset="0"/>
              </a:rPr>
              <a:t>97.44 / </a:t>
            </a:r>
            <a:r>
              <a:rPr lang="en-US" altLang="ja-JP" sz="4000" b="1" dirty="0">
                <a:cs typeface="Arial" panose="020B0604020202020204" pitchFamily="34" charset="0"/>
              </a:rPr>
              <a:t>90.53</a:t>
            </a:r>
            <a:endParaRPr lang="ja-JP" altLang="en-US" sz="4000" b="1" dirty="0">
              <a:cs typeface="Arial" panose="020B0604020202020204" pitchFamily="34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12780631" y="40954526"/>
            <a:ext cx="1753007" cy="1326155"/>
          </a:xfrm>
          <a:prstGeom prst="rect">
            <a:avLst/>
          </a:prstGeom>
          <a:noFill/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4176713"/>
            <a:r>
              <a:rPr lang="en-US" altLang="ja-JP" sz="4000" b="1" dirty="0">
                <a:cs typeface="Arial" panose="020B0604020202020204" pitchFamily="34" charset="0"/>
              </a:rPr>
              <a:t>97.45</a:t>
            </a:r>
            <a:r>
              <a:rPr lang="en-US" altLang="ja-JP" sz="4000" dirty="0">
                <a:cs typeface="Arial" panose="020B0604020202020204" pitchFamily="34" charset="0"/>
              </a:rPr>
              <a:t> / 90.22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cxnSp>
        <p:nvCxnSpPr>
          <p:cNvPr id="86" name="Straight Arrow Connector 85"/>
          <p:cNvCxnSpPr>
            <a:stCxn id="83" idx="3"/>
            <a:endCxn id="84" idx="1"/>
          </p:cNvCxnSpPr>
          <p:nvPr/>
        </p:nvCxnSpPr>
        <p:spPr bwMode="auto">
          <a:xfrm flipV="1">
            <a:off x="11632406" y="39137731"/>
            <a:ext cx="1148225" cy="13735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" name="Straight Arrow Connector 89"/>
          <p:cNvCxnSpPr>
            <a:stCxn id="83" idx="3"/>
            <a:endCxn id="85" idx="1"/>
          </p:cNvCxnSpPr>
          <p:nvPr/>
        </p:nvCxnSpPr>
        <p:spPr bwMode="auto">
          <a:xfrm>
            <a:off x="11632406" y="40511264"/>
            <a:ext cx="1148225" cy="11063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Straight Arrow Connector 94"/>
          <p:cNvCxnSpPr>
            <a:stCxn id="70" idx="3"/>
            <a:endCxn id="83" idx="1"/>
          </p:cNvCxnSpPr>
          <p:nvPr/>
        </p:nvCxnSpPr>
        <p:spPr bwMode="auto">
          <a:xfrm flipV="1">
            <a:off x="8550788" y="40511264"/>
            <a:ext cx="1328612" cy="59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Box 35"/>
          <p:cNvSpPr txBox="1"/>
          <p:nvPr/>
        </p:nvSpPr>
        <p:spPr>
          <a:xfrm>
            <a:off x="9991001" y="38807308"/>
            <a:ext cx="2667543" cy="709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>
                <a:cs typeface="Arial" panose="020B0604020202020204" pitchFamily="34" charset="0"/>
              </a:rPr>
              <a:t>+stag(w=1)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9906052" y="41400005"/>
            <a:ext cx="2667543" cy="709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>
                <a:cs typeface="Arial" panose="020B0604020202020204" pitchFamily="34" charset="0"/>
              </a:rPr>
              <a:t>+stag(w=3)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557528" y="39144945"/>
            <a:ext cx="1271014" cy="1326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>
                <a:cs typeface="Arial" panose="020B0604020202020204" pitchFamily="34" charset="0"/>
              </a:rPr>
              <a:t>+pos</a:t>
            </a:r>
          </a:p>
          <a:p>
            <a:r>
              <a:rPr lang="en-US" altLang="ja-JP" sz="4000" dirty="0">
                <a:cs typeface="Arial" panose="020B0604020202020204" pitchFamily="34" charset="0"/>
              </a:rPr>
              <a:t>+cw</a:t>
            </a:r>
            <a:endParaRPr lang="ja-JP" altLang="en-US" sz="4000" dirty="0">
              <a:cs typeface="Arial" panose="020B0604020202020204" pitchFamily="34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310654" y="38930514"/>
            <a:ext cx="1353344" cy="709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>
                <a:cs typeface="Arial" panose="020B0604020202020204" pitchFamily="34" charset="0"/>
              </a:rPr>
              <a:t>+w2v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10606" y="41242463"/>
            <a:ext cx="1104797" cy="709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>
                <a:cs typeface="Arial" panose="020B0604020202020204" pitchFamily="34" charset="0"/>
              </a:rPr>
              <a:t>+glv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97503" y="39814746"/>
            <a:ext cx="2279186" cy="709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>
                <a:cs typeface="Arial" panose="020B0604020202020204" pitchFamily="34" charset="0"/>
              </a:rPr>
              <a:t>+w2v+glv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69951" y="10684166"/>
            <a:ext cx="14069455" cy="6907715"/>
          </a:xfrm>
          <a:prstGeom prst="rect">
            <a:avLst/>
          </a:prstGeom>
        </p:spPr>
      </p:pic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208" y="36641881"/>
            <a:ext cx="4975269" cy="5641599"/>
          </a:xfrm>
          <a:prstGeom prst="rect">
            <a:avLst/>
          </a:prstGeom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0909" y="38485077"/>
            <a:ext cx="1640840" cy="3750492"/>
          </a:xfrm>
          <a:prstGeom prst="rect">
            <a:avLst/>
          </a:prstGeom>
        </p:spPr>
      </p:pic>
      <p:sp>
        <p:nvSpPr>
          <p:cNvPr id="5139" name="AutoShape 19"/>
          <p:cNvSpPr>
            <a:spLocks noChangeArrowheads="1"/>
          </p:cNvSpPr>
          <p:nvPr/>
        </p:nvSpPr>
        <p:spPr bwMode="auto">
          <a:xfrm>
            <a:off x="18883364" y="36012508"/>
            <a:ext cx="4096957" cy="71508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anchor="ctr">
            <a:spAutoFit/>
          </a:bodyPr>
          <a:lstStyle>
            <a:lvl1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defTabSz="4176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3600" dirty="0" smtClean="0">
                <a:cs typeface="Arial" panose="020B0604020202020204" pitchFamily="34" charset="0"/>
              </a:rPr>
              <a:t>PCA of raw feature</a:t>
            </a:r>
            <a:endParaRPr lang="en-US" altLang="ja-JP" sz="3600" dirty="0">
              <a:cs typeface="Arial" panose="020B0604020202020204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55726" y="28670996"/>
            <a:ext cx="14325600" cy="6313156"/>
            <a:chOff x="355727" y="36043725"/>
            <a:chExt cx="14325600" cy="6313156"/>
          </a:xfrm>
        </p:grpSpPr>
        <p:sp>
          <p:nvSpPr>
            <p:cNvPr id="124" name="Rectangle 28"/>
            <p:cNvSpPr>
              <a:spLocks noChangeArrowheads="1"/>
            </p:cNvSpPr>
            <p:nvPr/>
          </p:nvSpPr>
          <p:spPr bwMode="auto">
            <a:xfrm>
              <a:off x="355727" y="36043725"/>
              <a:ext cx="14325600" cy="631315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17643" tIns="208822" rIns="417643" bIns="208822"/>
            <a:lstStyle>
              <a:lvl1pPr marL="714375" indent="-714375" defTabSz="4176713">
                <a:spcBef>
                  <a:spcPct val="20000"/>
                </a:spcBef>
                <a:buChar char="•"/>
                <a:defRPr kumimoji="1" sz="1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1428750" indent="-438150" defTabSz="4176713">
                <a:spcBef>
                  <a:spcPct val="20000"/>
                </a:spcBef>
                <a:buChar char="–"/>
                <a:defRPr kumimoji="1" sz="11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5221288" indent="-1044575" defTabSz="4176713">
                <a:spcBef>
                  <a:spcPct val="20000"/>
                </a:spcBef>
                <a:buChar char="•"/>
                <a:defRPr kumimoji="1" sz="91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7308850" indent="-1044575" defTabSz="4176713">
                <a:spcBef>
                  <a:spcPct val="20000"/>
                </a:spcBef>
                <a:buChar char="–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9396413" indent="-1042988" defTabSz="4176713">
                <a:spcBef>
                  <a:spcPct val="20000"/>
                </a:spcBef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9853613" indent="-1042988" defTabSz="4176713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10310813" indent="-1042988" defTabSz="4176713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10768013" indent="-1042988" defTabSz="4176713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11225213" indent="-1042988" defTabSz="4176713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8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ja-JP" sz="6000" dirty="0">
                  <a:cs typeface="Arial" panose="020B0604020202020204" pitchFamily="34" charset="0"/>
                </a:rPr>
                <a:t>Results on Penn Treebank (PTB-WSJ)</a:t>
              </a:r>
            </a:p>
            <a:p>
              <a:pPr>
                <a:lnSpc>
                  <a:spcPct val="90000"/>
                </a:lnSpc>
              </a:pPr>
              <a:r>
                <a:rPr lang="en-US" altLang="ja-JP" sz="4800" dirty="0">
                  <a:cs typeface="Arial" panose="020B0604020202020204" pitchFamily="34" charset="0"/>
                </a:rPr>
                <a:t>Evaluation of the hybrid model</a:t>
              </a:r>
              <a:endParaRPr lang="en-US" altLang="ja-JP" sz="2400" dirty="0">
                <a:cs typeface="Arial" panose="020B0604020202020204" pitchFamily="34" charset="0"/>
              </a:endParaRPr>
            </a:p>
          </p:txBody>
        </p:sp>
        <p:pic>
          <p:nvPicPr>
            <p:cNvPr id="15" name="Picture 14" descr="Screen Clipping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573" y="38576784"/>
              <a:ext cx="14102633" cy="3703897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13173553" y="24899945"/>
            <a:ext cx="518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solidFill>
                  <a:srgbClr val="00B0F0"/>
                </a:solidFill>
              </a:rPr>
              <a:t>L</a:t>
            </a:r>
            <a:r>
              <a:rPr kumimoji="1" lang="en-US" altLang="ja-JP" sz="2800" baseline="-25000" dirty="0" smtClean="0">
                <a:solidFill>
                  <a:srgbClr val="00B0F0"/>
                </a:solidFill>
              </a:rPr>
              <a:t>2</a:t>
            </a:r>
            <a:endParaRPr kumimoji="1" lang="ja-JP" altLang="en-US" sz="2800" baseline="-25000" dirty="0">
              <a:solidFill>
                <a:srgbClr val="00B0F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3325953" y="24145081"/>
            <a:ext cx="1208985" cy="379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aseline="-25000" dirty="0" smtClean="0">
                <a:solidFill>
                  <a:schemeClr val="accent4"/>
                </a:solidFill>
              </a:rPr>
              <a:t>MAXOUT</a:t>
            </a:r>
            <a:endParaRPr kumimoji="1" lang="ja-JP" altLang="en-US" sz="2800" baseline="-25000" dirty="0">
              <a:solidFill>
                <a:schemeClr val="accent4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82297" y="38000372"/>
            <a:ext cx="18216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smtClean="0">
                <a:cs typeface="Arial" panose="020B0604020202020204" pitchFamily="34" charset="0"/>
              </a:rPr>
              <a:t>Binary feature only</a:t>
            </a:r>
            <a:endParaRPr lang="en-US" altLang="ja-JP" sz="40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標準デザイン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847</TotalTime>
  <Words>467</Words>
  <Application>Microsoft Office PowerPoint</Application>
  <PresentationFormat>Custom</PresentationFormat>
  <Paragraphs>81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 Unicode MS</vt:lpstr>
      <vt:lpstr>ＭＳ Ｐゴシック</vt:lpstr>
      <vt:lpstr>Arial</vt:lpstr>
      <vt:lpstr>Calibri</vt:lpstr>
      <vt:lpstr>Calibri Light</vt:lpstr>
      <vt:lpstr>Tahoma</vt:lpstr>
      <vt:lpstr>標準デザイン</vt:lpstr>
      <vt:lpstr>Equation</vt:lpstr>
      <vt:lpstr>Neural Networks Leverage Corpus-wide Information for Part-of-speech Tagging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tsuboi</dc:creator>
  <cp:lastModifiedBy>tsuboi</cp:lastModifiedBy>
  <cp:revision>51</cp:revision>
  <cp:lastPrinted>1601-01-01T00:00:00Z</cp:lastPrinted>
  <dcterms:created xsi:type="dcterms:W3CDTF">2014-10-03T06:02:04Z</dcterms:created>
  <dcterms:modified xsi:type="dcterms:W3CDTF">2014-10-15T05:33:16Z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